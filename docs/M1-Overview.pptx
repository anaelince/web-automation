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2" r:id="rId2"/>
    <p:sldId id="257" r:id="rId3"/>
    <p:sldId id="269" r:id="rId4"/>
    <p:sldId id="259" r:id="rId5"/>
    <p:sldId id="275" r:id="rId6"/>
    <p:sldId id="276" r:id="rId7"/>
    <p:sldId id="266" r:id="rId8"/>
    <p:sldId id="273" r:id="rId9"/>
    <p:sldId id="277" r:id="rId10"/>
    <p:sldId id="27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4F6"/>
    <a:srgbClr val="E8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0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11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66619-FAD6-5DD1-6034-9F2A37956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A0E70-ED91-8ADD-1EA3-783F415EB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3C1A8-EC24-646A-2457-8E768B833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B9F99-00FB-002F-5CED-84251B673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73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classroom.google.com/u/0/c/ODY5OTIwNTQ2MDE1" TargetMode="External"/><Relationship Id="rId3" Type="http://schemas.openxmlformats.org/officeDocument/2006/relationships/hyperlink" Target="https://the-internet.herokuapp.com/" TargetMode="External"/><Relationship Id="rId7" Type="http://schemas.openxmlformats.org/officeDocument/2006/relationships/hyperlink" Target="https://github.com/anaelince/web-automation" TargetMode="External"/><Relationship Id="rId2" Type="http://schemas.openxmlformats.org/officeDocument/2006/relationships/hyperlink" Target="https://qaplayground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uitestingplayground.com/" TargetMode="External"/><Relationship Id="rId5" Type="http://schemas.openxmlformats.org/officeDocument/2006/relationships/hyperlink" Target="https://automationexercise.com/" TargetMode="External"/><Relationship Id="rId4" Type="http://schemas.openxmlformats.org/officeDocument/2006/relationships/hyperlink" Target="https://www.google.com/search?q=https://www.saucedemo.com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mozilla.org/" TargetMode="External"/><Relationship Id="rId3" Type="http://schemas.openxmlformats.org/officeDocument/2006/relationships/hyperlink" Target="https://www.typescriptlang.org/docs/" TargetMode="External"/><Relationship Id="rId7" Type="http://schemas.openxmlformats.org/officeDocument/2006/relationships/hyperlink" Target="https://playwright.dev/docs/pom" TargetMode="External"/><Relationship Id="rId2" Type="http://schemas.openxmlformats.org/officeDocument/2006/relationships/hyperlink" Target="https://playwright.dev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github.com/" TargetMode="External"/><Relationship Id="rId5" Type="http://schemas.openxmlformats.org/officeDocument/2006/relationships/hyperlink" Target="https://www.w3.org/TR/webdriver2/" TargetMode="External"/><Relationship Id="rId4" Type="http://schemas.openxmlformats.org/officeDocument/2006/relationships/hyperlink" Target="https://docs.github.com/en/copil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9F7003-1FE9-6ECE-CCA3-360C93D6B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A39E1C-6AF8-3D84-05B4-73B4D16D26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DC5FAE9-5D35-75D3-2758-7C86AE24C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B3E4C37-1B47-EFF0-2861-4B63FA4E9E65}"/>
              </a:ext>
            </a:extLst>
          </p:cNvPr>
          <p:cNvSpPr txBox="1">
            <a:spLocks/>
          </p:cNvSpPr>
          <p:nvPr/>
        </p:nvSpPr>
        <p:spPr>
          <a:xfrm>
            <a:off x="4309349" y="3429000"/>
            <a:ext cx="7501651" cy="1090938"/>
          </a:xfrm>
          <a:prstGeom prst="rect">
            <a:avLst/>
          </a:prstGeom>
        </p:spPr>
        <p:txBody>
          <a:bodyPr anchor="b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solidFill>
                  <a:srgbClr val="FFFFFF"/>
                </a:solidFill>
              </a:rPr>
              <a:t>Web automation with playwright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7ED6F18-E5F7-AB63-AF04-933AC6DB9DAC}"/>
              </a:ext>
            </a:extLst>
          </p:cNvPr>
          <p:cNvSpPr txBox="1">
            <a:spLocks/>
          </p:cNvSpPr>
          <p:nvPr/>
        </p:nvSpPr>
        <p:spPr>
          <a:xfrm>
            <a:off x="4309349" y="4779313"/>
            <a:ext cx="7501650" cy="514816"/>
          </a:xfrm>
          <a:prstGeom prst="rect">
            <a:avLst/>
          </a:prstGeom>
        </p:spPr>
        <p:txBody>
          <a:bodyPr anchor="t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FFFFFF"/>
                </a:solidFill>
              </a:rPr>
              <a:t>Course Overview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CDF790-317D-D2F3-B6F6-3FFC1BC30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E05E8C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614BCBF-813F-F084-00C6-59E5A9A57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189" y="163629"/>
            <a:ext cx="1697159" cy="55030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B823813D-8B76-EFDF-B19A-09B5D2991707}"/>
              </a:ext>
            </a:extLst>
          </p:cNvPr>
          <p:cNvSpPr txBox="1">
            <a:spLocks/>
          </p:cNvSpPr>
          <p:nvPr/>
        </p:nvSpPr>
        <p:spPr>
          <a:xfrm>
            <a:off x="223948" y="6342209"/>
            <a:ext cx="7501650" cy="514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FF"/>
                </a:solidFill>
              </a:rPr>
              <a:t>Instructor: Eliana Navia Claros</a:t>
            </a:r>
          </a:p>
        </p:txBody>
      </p:sp>
    </p:spTree>
    <p:extLst>
      <p:ext uri="{BB962C8B-B14F-4D97-AF65-F5344CB8AC3E}">
        <p14:creationId xmlns:p14="http://schemas.microsoft.com/office/powerpoint/2010/main" val="421466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051560"/>
            <a:ext cx="5074920" cy="4709160"/>
          </a:xfrm>
          <a:prstGeom prst="roundRect">
            <a:avLst>
              <a:gd name="adj" fmla="val 971"/>
            </a:avLst>
          </a:prstGeom>
          <a:solidFill>
            <a:srgbClr val="335B74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1861" y="1325880"/>
            <a:ext cx="45262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Automation</a:t>
            </a:r>
            <a:endParaRPr lang="en-US" sz="2900" dirty="0"/>
          </a:p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Fundamentals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1861" y="3337560"/>
            <a:ext cx="4526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Instructor: Eliana Navia Claros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3977640"/>
            <a:ext cx="44348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journey from project scope to reliable automation and delivery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5074920"/>
            <a:ext cx="4526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C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  |  TypeScript  |  Chromium  |  Responsible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051560"/>
            <a:ext cx="5074920" cy="4709160"/>
          </a:xfrm>
          <a:prstGeom prst="roundRect">
            <a:avLst>
              <a:gd name="adj" fmla="val 971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1508760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will learn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297680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a real user flow and a clear scope.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through guided laboratories.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AI as an assistant, never as an authority.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evidence that another person can understand.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4892040"/>
            <a:ext cx="43434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— let’s build useful automation together.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Ways of working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safe, respectful, evidence-driven learning environment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5120640" cy="4526280"/>
          </a:xfrm>
          <a:prstGeom prst="roundRect">
            <a:avLst>
              <a:gd name="adj" fmla="val 1010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AGREEMENTS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537460"/>
            <a:ext cx="43434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on time and participate.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questions and share learning.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 different levels and perspectives.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agreed work and evidence.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</a:rPr>
              <a:t>Complete assignments before deadlines.</a:t>
            </a:r>
          </a:p>
        </p:txBody>
      </p:sp>
      <p:sp>
        <p:nvSpPr>
          <p:cNvPr id="9" name="Shape 7"/>
          <p:cNvSpPr/>
          <p:nvPr/>
        </p:nvSpPr>
        <p:spPr>
          <a:xfrm>
            <a:off x="6080760" y="1188720"/>
            <a:ext cx="5120640" cy="4526280"/>
          </a:xfrm>
          <a:prstGeom prst="roundRect">
            <a:avLst>
              <a:gd name="adj" fmla="val 1010"/>
            </a:avLst>
          </a:prstGeom>
          <a:solidFill>
            <a:srgbClr val="FFF4E8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26B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SAFETY RULES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429768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commit secrets or real personal data.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placeholders and controlled test data.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AI-generated code before acceptance.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Prerequisites and support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prior automation experience is required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5212080" cy="4526280"/>
          </a:xfrm>
          <a:prstGeom prst="roundRect">
            <a:avLst>
              <a:gd name="adj" fmla="val 1010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4663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KNOWLEDGE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448056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15900" indent="-215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programming concepts.</a:t>
            </a:r>
            <a:endParaRPr lang="en-US" sz="1700" dirty="0"/>
          </a:p>
          <a:p>
            <a:pPr marL="215900" indent="-215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command-line usage.</a:t>
            </a:r>
            <a:endParaRPr lang="en-US" sz="1700" dirty="0"/>
          </a:p>
          <a:p>
            <a:pPr marL="215900" indent="-215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Introductory Git.</a:t>
            </a:r>
            <a:endParaRPr lang="en-US" sz="1700" dirty="0"/>
          </a:p>
          <a:p>
            <a:pPr marL="215900" indent="-215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AI literacy and responsible use.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4983480"/>
            <a:ext cx="4663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before the first session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5074920" cy="4526280"/>
          </a:xfrm>
          <a:prstGeom prst="roundRect">
            <a:avLst>
              <a:gd name="adj" fmla="val 1010"/>
            </a:avLst>
          </a:prstGeom>
          <a:solidFill>
            <a:srgbClr val="FFF4E8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600200"/>
            <a:ext cx="4526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26B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BACKGROUND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46520" y="2240280"/>
            <a:ext cx="434340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15900" indent="-215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or TypeScript basics.</a:t>
            </a:r>
            <a:endParaRPr lang="en-US" sz="1700" dirty="0"/>
          </a:p>
          <a:p>
            <a:pPr marL="215900" indent="-215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and HTTP concepts.</a:t>
            </a:r>
            <a:endParaRPr lang="en-US" sz="1700" dirty="0"/>
          </a:p>
          <a:p>
            <a:pPr marL="215900" indent="-215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development practices.</a:t>
            </a:r>
            <a:endParaRPr lang="en-US" sz="1700" dirty="0"/>
          </a:p>
          <a:p>
            <a:pPr marL="215900" indent="-215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development tools.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4983480"/>
            <a:ext cx="4526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Helpful, but introduced during the course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5943600"/>
            <a:ext cx="10378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path: ask questions, use the practice applications, and keep assumptions visible.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31CB457-8DEA-D173-9652-5DFDBDF51384}"/>
              </a:ext>
            </a:extLst>
          </p:cNvPr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</a:rPr>
              <a:t>Technology Stack</a:t>
            </a:r>
            <a:endParaRPr lang="en-US" sz="25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1B99B3DC-6ECB-EA9A-7E0D-87D1B39AB10F}"/>
              </a:ext>
            </a:extLst>
          </p:cNvPr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93F55ED-396B-58C9-98AC-2A2F7245292B}"/>
              </a:ext>
            </a:extLst>
          </p:cNvPr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000" dirty="0"/>
              <a:t>Scope: technologies, tools, and platforms to be cover in the course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80FC35-044E-8F3C-49A3-908F4EC3F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88" y="1176857"/>
            <a:ext cx="10157012" cy="568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48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6589B-9EEF-BA32-EB8A-CE10B536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256DADA-E53A-B0F2-F89F-36C3E213AABF}"/>
              </a:ext>
            </a:extLst>
          </p:cNvPr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learning path</a:t>
            </a:r>
            <a:endParaRPr lang="en-US" sz="25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86387A69-157C-1102-0740-2A1054206478}"/>
              </a:ext>
            </a:extLst>
          </p:cNvPr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51F3B18-DE13-B8A6-8A77-8DE53EEA0ABB}"/>
              </a:ext>
            </a:extLst>
          </p:cNvPr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grows from a decision into a delivery pipeline</a:t>
            </a:r>
            <a:endParaRPr lang="en-US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85ABE7-F98B-53CC-CB75-0F108EE1F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78" y="896112"/>
            <a:ext cx="10442643" cy="598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905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model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evidence-based components across the course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469880" cy="777240"/>
          </a:xfrm>
          <a:prstGeom prst="roundRect">
            <a:avLst>
              <a:gd name="adj" fmla="val 5882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453896"/>
            <a:ext cx="34747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462861"/>
            <a:ext cx="3017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Participation and laboratories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00600" y="1380744"/>
            <a:ext cx="59893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contribution, guided practice, and reusable evidence from sessions.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286000"/>
            <a:ext cx="10469880" cy="777240"/>
          </a:xfrm>
          <a:prstGeom prst="roundRect">
            <a:avLst>
              <a:gd name="adj" fmla="val 5882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505456"/>
            <a:ext cx="34747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505456"/>
            <a:ext cx="3017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00600" y="2432304"/>
            <a:ext cx="59893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test, README, project structure, conventions, and initial review.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337560"/>
            <a:ext cx="10469880" cy="777240"/>
          </a:xfrm>
          <a:prstGeom prst="roundRect">
            <a:avLst>
              <a:gd name="adj" fmla="val 5882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3557016"/>
            <a:ext cx="34747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571539"/>
            <a:ext cx="3017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00600" y="3483864"/>
            <a:ext cx="59893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 with robust locators, assertions, waits, and controlled execution.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4389120"/>
            <a:ext cx="10469880" cy="777240"/>
          </a:xfrm>
          <a:prstGeom prst="roundRect">
            <a:avLst>
              <a:gd name="adj" fmla="val 5882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4608576"/>
            <a:ext cx="34747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4626864"/>
            <a:ext cx="3017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project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00600" y="4535424"/>
            <a:ext cx="59893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Maintainable suite, reports, debugging evidence, CI workflow, demo, and reflection.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5715000"/>
            <a:ext cx="10378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is based on demonstrated work and evidence, not only attendance or copied syntax.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4">
            <a:extLst>
              <a:ext uri="{FF2B5EF4-FFF2-40B4-BE49-F238E27FC236}">
                <a16:creationId xmlns:a16="http://schemas.microsoft.com/office/drawing/2014/main" id="{AF367B6D-3D04-CA21-6146-6047E300015E}"/>
              </a:ext>
            </a:extLst>
          </p:cNvPr>
          <p:cNvSpPr/>
          <p:nvPr/>
        </p:nvSpPr>
        <p:spPr>
          <a:xfrm>
            <a:off x="3530378" y="1901704"/>
            <a:ext cx="2613244" cy="3377632"/>
          </a:xfrm>
          <a:prstGeom prst="roundRect">
            <a:avLst>
              <a:gd name="adj" fmla="val 990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79465-8749-9522-729D-1061F5CC126D}"/>
              </a:ext>
            </a:extLst>
          </p:cNvPr>
          <p:cNvSpPr txBox="1">
            <a:spLocks/>
          </p:cNvSpPr>
          <p:nvPr/>
        </p:nvSpPr>
        <p:spPr>
          <a:xfrm>
            <a:off x="847344" y="461772"/>
            <a:ext cx="9720072" cy="149961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103BED-9592-C442-F819-90390C293B70}"/>
              </a:ext>
            </a:extLst>
          </p:cNvPr>
          <p:cNvSpPr/>
          <p:nvPr/>
        </p:nvSpPr>
        <p:spPr>
          <a:xfrm>
            <a:off x="723900" y="10287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92BDF9-89F0-FDE6-19C8-E212CAB952D5}"/>
              </a:ext>
            </a:extLst>
          </p:cNvPr>
          <p:cNvSpPr/>
          <p:nvPr/>
        </p:nvSpPr>
        <p:spPr>
          <a:xfrm>
            <a:off x="847344" y="1447800"/>
            <a:ext cx="6608445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57E6A2F8-7381-6D8A-1608-0ECE66F43813}"/>
              </a:ext>
            </a:extLst>
          </p:cNvPr>
          <p:cNvSpPr/>
          <p:nvPr/>
        </p:nvSpPr>
        <p:spPr>
          <a:xfrm>
            <a:off x="4211001" y="2225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⚙️</a:t>
            </a:r>
            <a:endParaRPr lang="en-US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C57D1453-9E31-B065-49A2-799364455B52}"/>
              </a:ext>
            </a:extLst>
          </p:cNvPr>
          <p:cNvSpPr/>
          <p:nvPr/>
        </p:nvSpPr>
        <p:spPr>
          <a:xfrm>
            <a:off x="3192781" y="2709735"/>
            <a:ext cx="249174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78D4"/>
                </a:solidFill>
              </a:rPr>
              <a:t>Development Environment</a:t>
            </a:r>
            <a:endParaRPr lang="en-US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E3EF5ECD-4B5E-6262-22A2-63FE3A8BEBD2}"/>
              </a:ext>
            </a:extLst>
          </p:cNvPr>
          <p:cNvSpPr/>
          <p:nvPr/>
        </p:nvSpPr>
        <p:spPr>
          <a:xfrm>
            <a:off x="3766056" y="3617913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</a:rPr>
              <a:t>• VS Code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</a:rPr>
              <a:t>• Node.js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</a:rPr>
              <a:t>• Playwright</a:t>
            </a:r>
            <a:endParaRPr lang="en-US" dirty="0"/>
          </a:p>
          <a:p>
            <a:r>
              <a:rPr lang="en-US" dirty="0">
                <a:solidFill>
                  <a:srgbClr val="333333"/>
                </a:solidFill>
              </a:rPr>
              <a:t>• TypeScript</a:t>
            </a:r>
          </a:p>
          <a:p>
            <a:r>
              <a:rPr lang="en-US" dirty="0">
                <a:solidFill>
                  <a:srgbClr val="333333"/>
                </a:solidFill>
              </a:rPr>
              <a:t>• Source Tree</a:t>
            </a:r>
          </a:p>
          <a:p>
            <a:r>
              <a:rPr lang="en-US" dirty="0">
                <a:solidFill>
                  <a:srgbClr val="333333"/>
                </a:solidFill>
              </a:rPr>
              <a:t>• Kiro IDE</a:t>
            </a:r>
          </a:p>
          <a:p>
            <a:pPr marL="0" indent="0">
              <a:buNone/>
            </a:pPr>
            <a:endParaRPr lang="en-US" dirty="0">
              <a:solidFill>
                <a:srgbClr val="333333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45C90603-2581-B40F-F60D-1C2DD892F488}"/>
              </a:ext>
            </a:extLst>
          </p:cNvPr>
          <p:cNvSpPr/>
          <p:nvPr/>
        </p:nvSpPr>
        <p:spPr>
          <a:xfrm>
            <a:off x="535636" y="6027683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solidFill>
                  <a:srgbClr val="666666"/>
                </a:solidFill>
              </a:rPr>
              <a:t>All course materials, exercises, source code, and assignments will be available through Google Classroom and GitHub.</a:t>
            </a:r>
            <a:endParaRPr lang="en-US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4A04391F-5544-F43C-1575-3A465C7DB700}"/>
              </a:ext>
            </a:extLst>
          </p:cNvPr>
          <p:cNvSpPr/>
          <p:nvPr/>
        </p:nvSpPr>
        <p:spPr>
          <a:xfrm>
            <a:off x="751243" y="849944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&amp; Learning Resources</a:t>
            </a: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F4E8AC29-44B1-EB72-4DF2-959686551D17}"/>
              </a:ext>
            </a:extLst>
          </p:cNvPr>
          <p:cNvSpPr/>
          <p:nvPr/>
        </p:nvSpPr>
        <p:spPr>
          <a:xfrm>
            <a:off x="751243" y="1371152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1EAE0D1A-8081-5A3E-EE6E-E4F1E16537F9}"/>
              </a:ext>
            </a:extLst>
          </p:cNvPr>
          <p:cNvSpPr/>
          <p:nvPr/>
        </p:nvSpPr>
        <p:spPr>
          <a:xfrm>
            <a:off x="1894243" y="1288856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Platforms, tools, and materials to be use throughout the course</a:t>
            </a:r>
            <a:endParaRPr lang="en-US" sz="10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A063A4FA-B506-2DD1-304A-E29431BE7963}"/>
              </a:ext>
            </a:extLst>
          </p:cNvPr>
          <p:cNvSpPr/>
          <p:nvPr/>
        </p:nvSpPr>
        <p:spPr>
          <a:xfrm>
            <a:off x="489047" y="1917852"/>
            <a:ext cx="2834640" cy="3377632"/>
          </a:xfrm>
          <a:prstGeom prst="roundRect">
            <a:avLst>
              <a:gd name="adj" fmla="val 990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1D57BA81-3C67-ED6A-21D4-9DD1F643DA7F}"/>
              </a:ext>
            </a:extLst>
          </p:cNvPr>
          <p:cNvSpPr/>
          <p:nvPr/>
        </p:nvSpPr>
        <p:spPr>
          <a:xfrm>
            <a:off x="1455420" y="21699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🌐</a:t>
            </a:r>
            <a:endParaRPr lang="en-US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17FAD800-E222-859C-BA3A-F503ED283428}"/>
              </a:ext>
            </a:extLst>
          </p:cNvPr>
          <p:cNvSpPr/>
          <p:nvPr/>
        </p:nvSpPr>
        <p:spPr>
          <a:xfrm>
            <a:off x="586740" y="25814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78D4"/>
                </a:solidFill>
              </a:rPr>
              <a:t>Practice Applications</a:t>
            </a:r>
            <a:endParaRPr lang="en-US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3F121E90-F0FE-978B-849B-45AC3031545E}"/>
              </a:ext>
            </a:extLst>
          </p:cNvPr>
          <p:cNvSpPr/>
          <p:nvPr/>
        </p:nvSpPr>
        <p:spPr>
          <a:xfrm>
            <a:off x="706419" y="364364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u="sng" dirty="0" err="1">
                <a:hlinkClick r:id="rId2"/>
              </a:rPr>
              <a:t>Demoqa</a:t>
            </a:r>
            <a:endParaRPr lang="en-US" u="sng" dirty="0">
              <a:hlinkClick r:id="rId2"/>
            </a:endParaRPr>
          </a:p>
          <a:p>
            <a:pPr lvl="0"/>
            <a:r>
              <a:rPr lang="en-US" u="sng" dirty="0">
                <a:hlinkClick r:id="rId2"/>
              </a:rPr>
              <a:t>QA Playground</a:t>
            </a:r>
            <a:endParaRPr lang="en-US" u="sng" dirty="0"/>
          </a:p>
          <a:p>
            <a:r>
              <a:rPr lang="en-US" u="sng" dirty="0">
                <a:hlinkClick r:id="rId3"/>
              </a:rPr>
              <a:t>The Internet (</a:t>
            </a:r>
            <a:r>
              <a:rPr lang="en-US" u="sng" dirty="0" err="1">
                <a:hlinkClick r:id="rId3"/>
              </a:rPr>
              <a:t>Herokuapp</a:t>
            </a:r>
            <a:r>
              <a:rPr lang="en-US" u="sng" dirty="0">
                <a:hlinkClick r:id="rId3"/>
              </a:rPr>
              <a:t>)</a:t>
            </a:r>
            <a:endParaRPr lang="en-US" u="sng" dirty="0"/>
          </a:p>
          <a:p>
            <a:pPr lvl="0"/>
            <a:r>
              <a:rPr lang="en-US" u="sng" dirty="0" err="1">
                <a:hlinkClick r:id="rId4"/>
              </a:rPr>
              <a:t>SauceDemo</a:t>
            </a:r>
            <a:r>
              <a:rPr lang="en-US" dirty="0"/>
              <a:t> </a:t>
            </a:r>
          </a:p>
          <a:p>
            <a:pPr lvl="0"/>
            <a:endParaRPr lang="en-US" dirty="0"/>
          </a:p>
          <a:p>
            <a:r>
              <a:rPr lang="en-US" u="sng" dirty="0">
                <a:hlinkClick r:id="rId5"/>
              </a:rPr>
              <a:t>Automation Exercise</a:t>
            </a:r>
            <a:r>
              <a:rPr lang="en-US" dirty="0"/>
              <a:t> </a:t>
            </a:r>
          </a:p>
          <a:p>
            <a:r>
              <a:rPr lang="en-US" u="sng" dirty="0">
                <a:hlinkClick r:id="rId6"/>
              </a:rPr>
              <a:t>UI Testing Playground</a:t>
            </a:r>
            <a:r>
              <a:rPr lang="en-US" dirty="0"/>
              <a:t> </a:t>
            </a:r>
          </a:p>
          <a:p>
            <a:pPr lvl="0"/>
            <a:endParaRPr lang="en-US" dirty="0"/>
          </a:p>
          <a:p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1AED1191-335D-3BF6-29C9-7635E06804B9}"/>
              </a:ext>
            </a:extLst>
          </p:cNvPr>
          <p:cNvSpPr/>
          <p:nvPr/>
        </p:nvSpPr>
        <p:spPr>
          <a:xfrm>
            <a:off x="6308112" y="1881833"/>
            <a:ext cx="2722245" cy="3377632"/>
          </a:xfrm>
          <a:prstGeom prst="roundRect">
            <a:avLst>
              <a:gd name="adj" fmla="val 990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A6334E58-15EF-D936-FD02-0CDDB1892F94}"/>
              </a:ext>
            </a:extLst>
          </p:cNvPr>
          <p:cNvSpPr/>
          <p:nvPr/>
        </p:nvSpPr>
        <p:spPr>
          <a:xfrm>
            <a:off x="9260794" y="1915342"/>
            <a:ext cx="2613244" cy="3377632"/>
          </a:xfrm>
          <a:prstGeom prst="roundRect">
            <a:avLst>
              <a:gd name="adj" fmla="val 990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BEA16A73-4C54-D74F-B1F4-EA13E1830B66}"/>
              </a:ext>
            </a:extLst>
          </p:cNvPr>
          <p:cNvSpPr/>
          <p:nvPr/>
        </p:nvSpPr>
        <p:spPr>
          <a:xfrm>
            <a:off x="10096500" y="22174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📂</a:t>
            </a:r>
            <a:endParaRPr lang="en-US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96A274F5-C66E-9636-F16B-D1913F60B0AE}"/>
              </a:ext>
            </a:extLst>
          </p:cNvPr>
          <p:cNvSpPr/>
          <p:nvPr/>
        </p:nvSpPr>
        <p:spPr>
          <a:xfrm>
            <a:off x="9227820" y="26289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78D4"/>
                </a:solidFill>
              </a:rPr>
              <a:t>Source Repository</a:t>
            </a:r>
            <a:endParaRPr lang="en-US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44E946B6-4B89-C92D-D8D7-EC10681356A4}"/>
              </a:ext>
            </a:extLst>
          </p:cNvPr>
          <p:cNvSpPr/>
          <p:nvPr/>
        </p:nvSpPr>
        <p:spPr>
          <a:xfrm>
            <a:off x="9618343" y="3086100"/>
            <a:ext cx="1784763" cy="1554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33333"/>
                </a:solidFill>
                <a:hlinkClick r:id="rId7"/>
              </a:rPr>
              <a:t>web-automation Repo</a:t>
            </a:r>
            <a:r>
              <a:rPr lang="en-US" dirty="0">
                <a:solidFill>
                  <a:srgbClr val="333333"/>
                </a:solidFill>
              </a:rPr>
              <a:t> </a:t>
            </a:r>
            <a:endParaRPr lang="en-US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B064EEF0-7188-6D3D-2BF8-702D289D35E5}"/>
              </a:ext>
            </a:extLst>
          </p:cNvPr>
          <p:cNvSpPr/>
          <p:nvPr/>
        </p:nvSpPr>
        <p:spPr>
          <a:xfrm>
            <a:off x="7240904" y="2255995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🎓</a:t>
            </a:r>
            <a:endParaRPr lang="en-US" dirty="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19A5803C-05AB-E11F-5507-DA8D01DF710F}"/>
              </a:ext>
            </a:extLst>
          </p:cNvPr>
          <p:cNvSpPr/>
          <p:nvPr/>
        </p:nvSpPr>
        <p:spPr>
          <a:xfrm>
            <a:off x="6307299" y="26545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78D4"/>
                </a:solidFill>
              </a:rPr>
              <a:t>Learning Platform</a:t>
            </a:r>
            <a:endParaRPr lang="en-US" dirty="0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5D53C5B1-38F8-F04F-AFFA-89D59B21758C}"/>
              </a:ext>
            </a:extLst>
          </p:cNvPr>
          <p:cNvSpPr/>
          <p:nvPr/>
        </p:nvSpPr>
        <p:spPr>
          <a:xfrm>
            <a:off x="6717323" y="3131945"/>
            <a:ext cx="2722245" cy="1554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33333"/>
                </a:solidFill>
                <a:hlinkClick r:id="rId8"/>
              </a:rPr>
              <a:t>Web Automation Classroom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453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55D29-1897-AE5F-FF69-F4CC6F448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C8850A-7E96-9FEC-4452-D2ECC1C2CABB}"/>
              </a:ext>
            </a:extLst>
          </p:cNvPr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1 | Session Summary</a:t>
            </a:r>
            <a:endParaRPr lang="en-US" sz="25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D219448-FD31-B09B-4118-E986E8398E90}"/>
              </a:ext>
            </a:extLst>
          </p:cNvPr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A5D2F4-4F3E-589C-3AA8-7C8DD4E28722}"/>
              </a:ext>
            </a:extLst>
          </p:cNvPr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Wrap-Up, Key Takeaways, Assignments &amp; Next Steps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D8E8A30-5143-C6D5-712F-85675BCA33EA}"/>
              </a:ext>
            </a:extLst>
          </p:cNvPr>
          <p:cNvSpPr/>
          <p:nvPr/>
        </p:nvSpPr>
        <p:spPr>
          <a:xfrm>
            <a:off x="777240" y="160934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B967018-EFD5-FEAA-E9B6-C2F490ED2826}"/>
              </a:ext>
            </a:extLst>
          </p:cNvPr>
          <p:cNvSpPr/>
          <p:nvPr/>
        </p:nvSpPr>
        <p:spPr>
          <a:xfrm>
            <a:off x="1325880" y="1588982"/>
            <a:ext cx="97840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B2535B4-5DE8-362B-154B-E49E5984FFA7}"/>
              </a:ext>
            </a:extLst>
          </p:cNvPr>
          <p:cNvSpPr/>
          <p:nvPr/>
        </p:nvSpPr>
        <p:spPr>
          <a:xfrm>
            <a:off x="777240" y="224942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20D0BE4-9364-D6DF-7B54-B838FAE44748}"/>
              </a:ext>
            </a:extLst>
          </p:cNvPr>
          <p:cNvSpPr/>
          <p:nvPr/>
        </p:nvSpPr>
        <p:spPr>
          <a:xfrm>
            <a:off x="777240" y="288950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1F34FC6-196D-B8BD-76A7-B9EB096768AF}"/>
              </a:ext>
            </a:extLst>
          </p:cNvPr>
          <p:cNvSpPr/>
          <p:nvPr/>
        </p:nvSpPr>
        <p:spPr>
          <a:xfrm>
            <a:off x="777240" y="352958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B5F9776-BDDD-8B52-3A0B-831F7916C902}"/>
              </a:ext>
            </a:extLst>
          </p:cNvPr>
          <p:cNvSpPr/>
          <p:nvPr/>
        </p:nvSpPr>
        <p:spPr>
          <a:xfrm>
            <a:off x="777240" y="416966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392C975-C052-E52E-72EC-24E3A548B8CE}"/>
              </a:ext>
            </a:extLst>
          </p:cNvPr>
          <p:cNvSpPr/>
          <p:nvPr/>
        </p:nvSpPr>
        <p:spPr>
          <a:xfrm>
            <a:off x="777240" y="480974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30E0B2-64EF-8EFC-5DB1-226C131C8573}"/>
              </a:ext>
            </a:extLst>
          </p:cNvPr>
          <p:cNvSpPr txBox="1"/>
          <p:nvPr/>
        </p:nvSpPr>
        <p:spPr>
          <a:xfrm>
            <a:off x="777240" y="1005840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endParaRPr lang="en-US" dirty="0"/>
          </a:p>
          <a:p>
            <a:pPr fontAlgn="t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6C853-D3D1-B814-587A-E09B130DB80B}"/>
              </a:ext>
            </a:extLst>
          </p:cNvPr>
          <p:cNvSpPr txBox="1"/>
          <p:nvPr/>
        </p:nvSpPr>
        <p:spPr>
          <a:xfrm>
            <a:off x="304138" y="5433918"/>
            <a:ext cx="109525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anose="020B0004020202020204" pitchFamily="34" charset="0"/>
              </a:rPr>
              <a:t>Next Module: 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anose="020B0004020202020204" pitchFamily="34" charset="0"/>
              </a:rPr>
              <a:t>Project Scope &amp; Automation Foundations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anose="020B0004020202020204" pitchFamily="34" charset="0"/>
              </a:rPr>
              <a:t>Learn how to identify, analyze, and justify automation opportunities while defining the baseline for your automation framework.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68B3FAE-565A-9EE9-7993-4CD3A16FC4DB}"/>
              </a:ext>
            </a:extLst>
          </p:cNvPr>
          <p:cNvSpPr/>
          <p:nvPr/>
        </p:nvSpPr>
        <p:spPr>
          <a:xfrm>
            <a:off x="837449" y="1362751"/>
            <a:ext cx="3895916" cy="3625198"/>
          </a:xfrm>
          <a:prstGeom prst="roundRect">
            <a:avLst>
              <a:gd name="adj" fmla="val 990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pPr fontAlgn="t">
              <a:lnSpc>
                <a:spcPct val="90000"/>
              </a:lnSpc>
              <a:buSzPct val="100000"/>
            </a:pPr>
            <a:r>
              <a:rPr lang="en-US" b="1" dirty="0">
                <a:solidFill>
                  <a:srgbClr val="335B74"/>
                </a:solidFill>
                <a:latin typeface="Aptos" pitchFamily="34" charset="0"/>
              </a:rPr>
              <a:t> What We Learned</a:t>
            </a:r>
          </a:p>
          <a:p>
            <a:pPr fontAlgn="t">
              <a:lnSpc>
                <a:spcPct val="90000"/>
              </a:lnSpc>
              <a:buSzPct val="100000"/>
            </a:pPr>
            <a:endParaRPr lang="en-US" b="1" dirty="0">
              <a:solidFill>
                <a:srgbClr val="335B74"/>
              </a:solidFill>
              <a:latin typeface="Aptos" pitchFamily="34" charset="0"/>
            </a:endParaRPr>
          </a:p>
          <a:p>
            <a:pPr fontAlgn="t">
              <a:lnSpc>
                <a:spcPct val="150000"/>
              </a:lnSpc>
              <a:buSzPct val="100000"/>
            </a:pPr>
            <a:r>
              <a:rPr lang="en-US" dirty="0">
                <a:solidFill>
                  <a:srgbClr val="26343B"/>
                </a:solidFill>
                <a:latin typeface="Aptos" pitchFamily="34" charset="0"/>
              </a:rPr>
              <a:t> ✅ Course scope, structure and learning journey.</a:t>
            </a:r>
          </a:p>
          <a:p>
            <a:pPr fontAlgn="t">
              <a:lnSpc>
                <a:spcPct val="150000"/>
              </a:lnSpc>
              <a:buSzPct val="100000"/>
            </a:pPr>
            <a:r>
              <a:rPr lang="en-US" dirty="0">
                <a:solidFill>
                  <a:srgbClr val="26343B"/>
                </a:solidFill>
                <a:latin typeface="Aptos" pitchFamily="34" charset="0"/>
              </a:rPr>
              <a:t>✅ Evaluation and grading model.</a:t>
            </a:r>
          </a:p>
          <a:p>
            <a:pPr fontAlgn="t">
              <a:lnSpc>
                <a:spcPct val="150000"/>
              </a:lnSpc>
              <a:buSzPct val="100000"/>
            </a:pPr>
            <a:r>
              <a:rPr lang="en-US" dirty="0">
                <a:solidFill>
                  <a:srgbClr val="26343B"/>
                </a:solidFill>
                <a:latin typeface="Aptos" pitchFamily="34" charset="0"/>
              </a:rPr>
              <a:t>✅ Progressive project approach.</a:t>
            </a:r>
          </a:p>
          <a:p>
            <a:pPr fontAlgn="t">
              <a:lnSpc>
                <a:spcPct val="150000"/>
              </a:lnSpc>
              <a:buSzPct val="100000"/>
            </a:pPr>
            <a:r>
              <a:rPr lang="en-US" dirty="0">
                <a:solidFill>
                  <a:srgbClr val="26343B"/>
                </a:solidFill>
                <a:latin typeface="Aptos" pitchFamily="34" charset="0"/>
              </a:rPr>
              <a:t>✅ Collaboration and communication workflow.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E7090E30-7982-9F88-B897-2027AFB75193}"/>
              </a:ext>
            </a:extLst>
          </p:cNvPr>
          <p:cNvSpPr/>
          <p:nvPr/>
        </p:nvSpPr>
        <p:spPr>
          <a:xfrm>
            <a:off x="6217920" y="1375471"/>
            <a:ext cx="3759798" cy="3612478"/>
          </a:xfrm>
          <a:prstGeom prst="roundRect">
            <a:avLst>
              <a:gd name="adj" fmla="val 990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pPr fontAlgn="t">
              <a:lnSpc>
                <a:spcPct val="90000"/>
              </a:lnSpc>
              <a:buNone/>
            </a:pPr>
            <a:r>
              <a:rPr lang="en-US" b="1" dirty="0">
                <a:solidFill>
                  <a:srgbClr val="335B74"/>
                </a:solidFill>
                <a:latin typeface="Aptos" pitchFamily="34" charset="0"/>
              </a:rPr>
              <a:t> Required Actions</a:t>
            </a:r>
          </a:p>
          <a:p>
            <a:pPr fontAlgn="t">
              <a:lnSpc>
                <a:spcPct val="90000"/>
              </a:lnSpc>
              <a:buNone/>
            </a:pPr>
            <a:endParaRPr lang="en-US" b="1" dirty="0">
              <a:solidFill>
                <a:srgbClr val="335B74"/>
              </a:solidFill>
              <a:latin typeface="Aptos" pitchFamily="34" charset="0"/>
            </a:endParaRPr>
          </a:p>
          <a:p>
            <a:pPr fontAlgn="t">
              <a:lnSpc>
                <a:spcPct val="150000"/>
              </a:lnSpc>
              <a:buSzPct val="100000"/>
              <a:buNone/>
            </a:pPr>
            <a:r>
              <a:rPr lang="en-US" dirty="0">
                <a:solidFill>
                  <a:srgbClr val="26343B"/>
                </a:solidFill>
                <a:latin typeface="Aptos" pitchFamily="34" charset="0"/>
              </a:rPr>
              <a:t>📋 Join Google Classroom.</a:t>
            </a:r>
          </a:p>
          <a:p>
            <a:pPr fontAlgn="t">
              <a:lnSpc>
                <a:spcPct val="150000"/>
              </a:lnSpc>
              <a:buSzPct val="100000"/>
              <a:buNone/>
            </a:pPr>
            <a:r>
              <a:rPr lang="en-US" dirty="0">
                <a:solidFill>
                  <a:srgbClr val="26343B"/>
                </a:solidFill>
                <a:latin typeface="Aptos" pitchFamily="34" charset="0"/>
              </a:rPr>
              <a:t>📋 Complete </a:t>
            </a:r>
            <a:r>
              <a:rPr lang="en-US" i="1" dirty="0">
                <a:solidFill>
                  <a:srgbClr val="26343B"/>
                </a:solidFill>
                <a:latin typeface="Aptos" pitchFamily="34" charset="0"/>
              </a:rPr>
              <a:t>Baseline &amp; Expectations Form</a:t>
            </a:r>
            <a:r>
              <a:rPr lang="en-US" dirty="0">
                <a:solidFill>
                  <a:srgbClr val="26343B"/>
                </a:solidFill>
                <a:latin typeface="Aptos" pitchFamily="34" charset="0"/>
              </a:rPr>
              <a:t>.</a:t>
            </a:r>
          </a:p>
          <a:p>
            <a:pPr fontAlgn="t">
              <a:lnSpc>
                <a:spcPct val="150000"/>
              </a:lnSpc>
              <a:buSzPct val="100000"/>
              <a:buNone/>
            </a:pPr>
            <a:r>
              <a:rPr lang="en-US" dirty="0">
                <a:solidFill>
                  <a:srgbClr val="26343B"/>
                </a:solidFill>
                <a:latin typeface="Aptos" pitchFamily="34" charset="0"/>
              </a:rPr>
              <a:t>📋 Share GitHub profile.</a:t>
            </a:r>
          </a:p>
          <a:p>
            <a:pPr fontAlgn="t">
              <a:lnSpc>
                <a:spcPct val="150000"/>
              </a:lnSpc>
              <a:buSzPct val="100000"/>
              <a:buNone/>
            </a:pPr>
            <a:r>
              <a:rPr lang="en-US" dirty="0">
                <a:solidFill>
                  <a:srgbClr val="26343B"/>
                </a:solidFill>
                <a:latin typeface="Aptos" pitchFamily="34" charset="0"/>
              </a:rPr>
              <a:t>📋 Select a project user flow.</a:t>
            </a:r>
          </a:p>
        </p:txBody>
      </p:sp>
    </p:spTree>
    <p:extLst>
      <p:ext uri="{BB962C8B-B14F-4D97-AF65-F5344CB8AC3E}">
        <p14:creationId xmlns:p14="http://schemas.microsoft.com/office/powerpoint/2010/main" val="1305845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90099-6B12-AA9A-E463-4DB322F0C379}"/>
              </a:ext>
            </a:extLst>
          </p:cNvPr>
          <p:cNvSpPr txBox="1">
            <a:spLocks/>
          </p:cNvSpPr>
          <p:nvPr/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E7795F-0B5B-9304-7BF6-8C4353F3A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925209"/>
              </p:ext>
            </p:extLst>
          </p:nvPr>
        </p:nvGraphicFramePr>
        <p:xfrm>
          <a:off x="755185" y="1602031"/>
          <a:ext cx="10504486" cy="4517273"/>
        </p:xfrm>
        <a:graphic>
          <a:graphicData uri="http://schemas.openxmlformats.org/drawingml/2006/table">
            <a:tbl>
              <a:tblPr firstRow="1" firstCol="1" bandRow="1"/>
              <a:tblGrid>
                <a:gridCol w="3015537">
                  <a:extLst>
                    <a:ext uri="{9D8B030D-6E8A-4147-A177-3AD203B41FA5}">
                      <a16:colId xmlns:a16="http://schemas.microsoft.com/office/drawing/2014/main" val="3941172865"/>
                    </a:ext>
                  </a:extLst>
                </a:gridCol>
                <a:gridCol w="7488949">
                  <a:extLst>
                    <a:ext uri="{9D8B030D-6E8A-4147-A177-3AD203B41FA5}">
                      <a16:colId xmlns:a16="http://schemas.microsoft.com/office/drawing/2014/main" val="1736055896"/>
                    </a:ext>
                  </a:extLst>
                </a:gridCol>
              </a:tblGrid>
              <a:tr h="4364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Description &amp; Link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90825"/>
                  </a:ext>
                </a:extLst>
              </a:tr>
              <a:tr h="5396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Playwright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u="sng" kern="100" dirty="0" err="1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2"/>
                        </a:rPr>
                        <a:t>playwright.dev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— Installation guides, API reference, locators, fixtures, and tools like Trace Viewer &amp; </a:t>
                      </a:r>
                      <a:r>
                        <a:rPr lang="en-US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Codegen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882371"/>
                  </a:ext>
                </a:extLst>
              </a:tr>
              <a:tr h="5396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TypeScript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u="sng" kern="100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3"/>
                        </a:rPr>
                        <a:t>typescriptlang.org/docs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— Language handbook, type system reference, and </a:t>
                      </a:r>
                      <a:r>
                        <a:rPr lang="en-US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tsconfig.json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compiler configuration.</a:t>
                      </a: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884160"/>
                  </a:ext>
                </a:extLst>
              </a:tr>
              <a:tr h="5396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 in Automation Lifecycle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u="sng" kern="100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4"/>
                        </a:rPr>
                        <a:t>docs.github.com/copilot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— Official guides on integrating AI into dev workflows, test generation, and prompt engineering.</a:t>
                      </a: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55148"/>
                  </a:ext>
                </a:extLst>
              </a:tr>
              <a:tr h="5396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Web Automation Fundamentals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u="sng" kern="100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5"/>
                        </a:rPr>
                        <a:t>w3.org/TR/webdriver2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— W3C standard for browser automation concepts, DOM interaction, and browser control protocols.</a:t>
                      </a: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289923"/>
                  </a:ext>
                </a:extLst>
              </a:tr>
              <a:tr h="5396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GitHub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u="sng" kern="100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6"/>
                        </a:rPr>
                        <a:t>docs.github.com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— Official documentation for Git version control, repository management, and CI/CD pipelines via GitHub Actions.</a:t>
                      </a: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76746"/>
                  </a:ext>
                </a:extLst>
              </a:tr>
              <a:tr h="5396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Page Object Model (POM)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u="sng" kern="100" dirty="0" err="1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7"/>
                        </a:rPr>
                        <a:t>playwright.dev</a:t>
                      </a:r>
                      <a:r>
                        <a:rPr lang="en-US" sz="1400" u="sng" kern="100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7"/>
                        </a:rPr>
                        <a:t>/docs/pom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— Official architectural guide for implementing the Page Object Model pattern using TypeScript.</a:t>
                      </a: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768861"/>
                  </a:ext>
                </a:extLst>
              </a:tr>
              <a:tr h="5396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UI Testing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u="sng" kern="100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8"/>
                        </a:rPr>
                        <a:t>developer.mozilla.org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— The definitive reference for web standards, DOM event models, HTML semantics, and browser rendering.</a:t>
                      </a:r>
                    </a:p>
                  </a:txBody>
                  <a:tcPr marL="79999" marR="79999" marT="53333" marB="53333" anchor="ctr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042330"/>
                  </a:ext>
                </a:extLst>
              </a:tr>
            </a:tbl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DA1B3E8E-552D-83C6-6AD9-0AA669B85072}"/>
              </a:ext>
            </a:extLst>
          </p:cNvPr>
          <p:cNvSpPr/>
          <p:nvPr/>
        </p:nvSpPr>
        <p:spPr>
          <a:xfrm>
            <a:off x="502920" y="763255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&amp; Resources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ACFA36B-2F67-6F6B-37AD-77F2D7C71E12}"/>
              </a:ext>
            </a:extLst>
          </p:cNvPr>
          <p:cNvSpPr/>
          <p:nvPr/>
        </p:nvSpPr>
        <p:spPr>
          <a:xfrm>
            <a:off x="502920" y="1284463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77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732</Words>
  <Application>Microsoft Office PowerPoint</Application>
  <PresentationFormat>Widescreen</PresentationFormat>
  <Paragraphs>132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Web Automation Fundamentals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1 - Course Overview</dc:title>
  <dc:subject>Course scope, prerequisites, evaluation, project workflow, responsible AI, and M2 handoff</dc:subject>
  <dc:creator>Eliana Navia</dc:creator>
  <cp:lastModifiedBy>Eliana Navia</cp:lastModifiedBy>
  <cp:revision>18</cp:revision>
  <dcterms:created xsi:type="dcterms:W3CDTF">2026-10-01T11:46:02Z</dcterms:created>
  <dcterms:modified xsi:type="dcterms:W3CDTF">2026-10-05T22:22:44Z</dcterms:modified>
</cp:coreProperties>
</file>