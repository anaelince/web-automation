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3" r:id="rId2"/>
    <p:sldId id="256" r:id="rId3"/>
    <p:sldId id="258" r:id="rId4"/>
    <p:sldId id="292" r:id="rId5"/>
    <p:sldId id="260" r:id="rId6"/>
    <p:sldId id="267" r:id="rId7"/>
    <p:sldId id="261" r:id="rId8"/>
    <p:sldId id="298" r:id="rId9"/>
    <p:sldId id="269" r:id="rId10"/>
    <p:sldId id="299" r:id="rId11"/>
    <p:sldId id="257" r:id="rId12"/>
    <p:sldId id="27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9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E994-F411-3CA5-5FEE-BC3DECC9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906B4-445C-FBA0-B11A-3CB6B9A22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E4F70-4481-D150-6B5F-A79018B46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211C1-0333-DE7E-4D41-4A9314893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9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wright.dev/docs/intro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4815B1-95B4-DD8A-F981-0337EA43E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B90D1-C25E-4BA4-1D04-1EE61D48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92EDE9-ED66-3063-2CC8-7B3C9A7E2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CCC17E-FE71-704A-42F7-B3A0AC08B1B1}"/>
              </a:ext>
            </a:extLst>
          </p:cNvPr>
          <p:cNvSpPr txBox="1">
            <a:spLocks/>
          </p:cNvSpPr>
          <p:nvPr/>
        </p:nvSpPr>
        <p:spPr>
          <a:xfrm>
            <a:off x="4309349" y="3429000"/>
            <a:ext cx="7501651" cy="1090938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FFFFFF"/>
                </a:solidFill>
              </a:rPr>
              <a:t>Web automation with playwright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EE7226A-6244-2D9D-D44E-69B10FE879D4}"/>
              </a:ext>
            </a:extLst>
          </p:cNvPr>
          <p:cNvSpPr txBox="1">
            <a:spLocks/>
          </p:cNvSpPr>
          <p:nvPr/>
        </p:nvSpPr>
        <p:spPr>
          <a:xfrm>
            <a:off x="4309349" y="4779313"/>
            <a:ext cx="7501650" cy="514816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Framework Setup &amp; First Test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69C8A5-2F50-8E7E-A244-71FDE60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E05E8C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5AF0733-B095-765B-3543-ACA55F77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189" y="163629"/>
            <a:ext cx="1697159" cy="550305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7D3F59D8-F88D-7994-A9FD-93CF5D84D39A}"/>
              </a:ext>
            </a:extLst>
          </p:cNvPr>
          <p:cNvSpPr txBox="1">
            <a:spLocks/>
          </p:cNvSpPr>
          <p:nvPr/>
        </p:nvSpPr>
        <p:spPr>
          <a:xfrm>
            <a:off x="223948" y="6342209"/>
            <a:ext cx="7501650" cy="514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Instructor: Eliana Navia Claros</a:t>
            </a:r>
          </a:p>
        </p:txBody>
      </p:sp>
    </p:spTree>
    <p:extLst>
      <p:ext uri="{BB962C8B-B14F-4D97-AF65-F5344CB8AC3E}">
        <p14:creationId xmlns:p14="http://schemas.microsoft.com/office/powerpoint/2010/main" val="104084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5B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automation with Playwright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  |  Framework Setup &amp; First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95728"/>
            <a:ext cx="10058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initial configured project,  and the first executable result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2683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3913632"/>
            <a:ext cx="209397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4261104"/>
            <a:ext cx="2093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3703320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CA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3913632"/>
            <a:ext cx="209397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02152" y="4261104"/>
            <a:ext cx="2093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703320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2683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3913632"/>
            <a:ext cx="209397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9632" y="4261104"/>
            <a:ext cx="2093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3703320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CA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97112" y="3913632"/>
            <a:ext cx="209397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97112" y="4261104"/>
            <a:ext cx="2093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outcome: first working test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development environment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tools before creating the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337560" cy="1051560"/>
          </a:xfrm>
          <a:prstGeom prst="roundRect">
            <a:avLst>
              <a:gd name="adj" fmla="val 4348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2971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and npm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3337560" cy="1051560"/>
          </a:xfrm>
          <a:prstGeom prst="roundRect">
            <a:avLst>
              <a:gd name="adj" fmla="val 4348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2971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1810512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and terminal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337560" cy="1051560"/>
          </a:xfrm>
          <a:prstGeom prst="roundRect">
            <a:avLst>
              <a:gd name="adj" fmla="val 4348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463040"/>
            <a:ext cx="2971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1810512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and extension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3337560" cy="1051560"/>
          </a:xfrm>
          <a:prstGeom prst="roundRect">
            <a:avLst>
              <a:gd name="adj" fmla="val 4348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2971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CHROMIUM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browser project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2834640"/>
            <a:ext cx="3337560" cy="1051560"/>
          </a:xfrm>
          <a:prstGeom prst="roundRect">
            <a:avLst>
              <a:gd name="adj" fmla="val 4348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2971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3364992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950" y="4480560"/>
            <a:ext cx="10332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environment before </a:t>
            </a:r>
            <a:r>
              <a:rPr lang="en-US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</a:t>
            </a:r>
            <a:r>
              <a:rPr lang="en-US" sz="18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the framework.</a:t>
            </a:r>
            <a:endParaRPr lang="en-US" sz="18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FB24C42-E33F-C619-CC50-5E38A49F5896}"/>
              </a:ext>
            </a:extLst>
          </p:cNvPr>
          <p:cNvSpPr/>
          <p:nvPr/>
        </p:nvSpPr>
        <p:spPr>
          <a:xfrm>
            <a:off x="1105348" y="5349240"/>
            <a:ext cx="457200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1750E3A1-D1E4-AB53-8ED4-CAE5BF3BEE2C}"/>
              </a:ext>
            </a:extLst>
          </p:cNvPr>
          <p:cNvSpPr/>
          <p:nvPr/>
        </p:nvSpPr>
        <p:spPr>
          <a:xfrm>
            <a:off x="1251652" y="5440680"/>
            <a:ext cx="4279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–version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 typescript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6AB4B9-ED2D-AD07-508D-2E4082058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136910"/>
            <a:ext cx="5733333" cy="1247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9FE05DBD-F75F-C2AE-11AF-C05335C24FC6}"/>
              </a:ext>
            </a:extLst>
          </p:cNvPr>
          <p:cNvSpPr/>
          <p:nvPr/>
        </p:nvSpPr>
        <p:spPr>
          <a:xfrm>
            <a:off x="649224" y="4014216"/>
            <a:ext cx="566928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95FE73E-8041-BFC9-B55B-EC91F723B23E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Playwright</a:t>
            </a:r>
            <a:endParaRPr lang="en-US" sz="25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449E489-889C-B2D4-C98F-D84E58D9F748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86316CE-1DED-864B-BB7C-D5C4E89D472C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Playwright TypeScript baseline</a:t>
            </a:r>
            <a:endParaRPr lang="en-US" sz="10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BB22F45-FFFA-AF4A-2128-67A2E13D8DAF}"/>
              </a:ext>
            </a:extLst>
          </p:cNvPr>
          <p:cNvSpPr/>
          <p:nvPr/>
        </p:nvSpPr>
        <p:spPr>
          <a:xfrm>
            <a:off x="649224" y="1353312"/>
            <a:ext cx="566928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A5A7AF2-CEA9-4719-3F05-76083E0D01A5}"/>
              </a:ext>
            </a:extLst>
          </p:cNvPr>
          <p:cNvSpPr/>
          <p:nvPr/>
        </p:nvSpPr>
        <p:spPr>
          <a:xfrm>
            <a:off x="877824" y="1417320"/>
            <a:ext cx="53766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</a:t>
            </a:r>
            <a:r>
              <a:rPr lang="en-US" sz="2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Terminal</a:t>
            </a:r>
            <a:b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2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 playwright@latest</a:t>
            </a:r>
            <a:endParaRPr lang="en-US" sz="2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9DADBDC-EF95-BCAB-A1F3-7C4A7E06C22E}"/>
              </a:ext>
            </a:extLst>
          </p:cNvPr>
          <p:cNvSpPr/>
          <p:nvPr/>
        </p:nvSpPr>
        <p:spPr>
          <a:xfrm>
            <a:off x="6720840" y="1325880"/>
            <a:ext cx="4480560" cy="3566160"/>
          </a:xfrm>
          <a:prstGeom prst="roundRect">
            <a:avLst>
              <a:gd name="adj" fmla="val 1282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E7FB4D1-4F2D-A86F-D230-381687FCBA16}"/>
              </a:ext>
            </a:extLst>
          </p:cNvPr>
          <p:cNvSpPr/>
          <p:nvPr/>
        </p:nvSpPr>
        <p:spPr>
          <a:xfrm>
            <a:off x="70408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choices</a:t>
            </a:r>
            <a:endParaRPr lang="en-US" sz="2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0E1E846-108E-C1A4-E5C6-FCF02436C7F1}"/>
              </a:ext>
            </a:extLst>
          </p:cNvPr>
          <p:cNvSpPr/>
          <p:nvPr/>
        </p:nvSpPr>
        <p:spPr>
          <a:xfrm>
            <a:off x="7040880" y="2331720"/>
            <a:ext cx="36576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TypeScript: Yes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folder: tests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Actions: Yes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browsers: Yes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generated config as a starting point</a:t>
            </a:r>
            <a:endParaRPr lang="en-US" sz="16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6EEC5BB-B668-25FC-D08C-ADA6E0637A15}"/>
              </a:ext>
            </a:extLst>
          </p:cNvPr>
          <p:cNvSpPr/>
          <p:nvPr/>
        </p:nvSpPr>
        <p:spPr>
          <a:xfrm>
            <a:off x="822960" y="6411169"/>
            <a:ext cx="10378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creates a baseline; the team still reviews and adapts it.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5A3DC-3F02-5A45-4534-BB774219CBF9}"/>
              </a:ext>
            </a:extLst>
          </p:cNvPr>
          <p:cNvSpPr txBox="1"/>
          <p:nvPr/>
        </p:nvSpPr>
        <p:spPr>
          <a:xfrm>
            <a:off x="1975104" y="4022040"/>
            <a:ext cx="318211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SzPct val="100000"/>
            </a:pPr>
            <a:r>
              <a:rPr lang="en-US" sz="1800" dirty="0">
                <a:solidFill>
                  <a:schemeClr val="bg1"/>
                </a:solidFill>
                <a:latin typeface="Aptos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playwright-docs-installation</a:t>
            </a:r>
            <a:endParaRPr lang="en-US" sz="1800" dirty="0">
              <a:solidFill>
                <a:srgbClr val="26343B"/>
              </a:solidFill>
              <a:latin typeface="Aptos" pitchFamily="34" charset="0"/>
            </a:endParaRP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3F99B8D3-37AF-F784-39C8-6B8CED554C0C}"/>
              </a:ext>
            </a:extLst>
          </p:cNvPr>
          <p:cNvSpPr/>
          <p:nvPr/>
        </p:nvSpPr>
        <p:spPr>
          <a:xfrm>
            <a:off x="1105348" y="5349240"/>
            <a:ext cx="457200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7A9A54C5-A00A-C94D-6A69-6303FED685BC}"/>
              </a:ext>
            </a:extLst>
          </p:cNvPr>
          <p:cNvSpPr/>
          <p:nvPr/>
        </p:nvSpPr>
        <p:spPr>
          <a:xfrm>
            <a:off x="1251651" y="5487248"/>
            <a:ext cx="449869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</a:rPr>
              <a:t>Git –version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onsolas" pitchFamily="34" charset="0"/>
              </a:rPr>
              <a:t>npx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</a:rPr>
              <a:t> playwright install --dry-run chromium</a:t>
            </a:r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DB700347-1E34-D346-3920-88C2CAFD7F52}"/>
              </a:ext>
            </a:extLst>
          </p:cNvPr>
          <p:cNvSpPr/>
          <p:nvPr/>
        </p:nvSpPr>
        <p:spPr>
          <a:xfrm>
            <a:off x="6368349" y="5228168"/>
            <a:ext cx="457200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58870AC1-EE2A-707E-D4C2-E1A5B621CE28}"/>
              </a:ext>
            </a:extLst>
          </p:cNvPr>
          <p:cNvSpPr/>
          <p:nvPr/>
        </p:nvSpPr>
        <p:spPr>
          <a:xfrm>
            <a:off x="6514652" y="5366176"/>
            <a:ext cx="449869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onsolas" pitchFamily="34" charset="0"/>
              </a:rPr>
              <a:t>npx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</a:rPr>
              <a:t> playwright install chromium</a:t>
            </a:r>
          </a:p>
        </p:txBody>
      </p:sp>
    </p:spTree>
    <p:extLst>
      <p:ext uri="{BB962C8B-B14F-4D97-AF65-F5344CB8AC3E}">
        <p14:creationId xmlns:p14="http://schemas.microsoft.com/office/powerpoint/2010/main" val="136211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structure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where the initial responsibilities 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37960" y="1143000"/>
            <a:ext cx="4663440" cy="4480560"/>
          </a:xfrm>
          <a:prstGeom prst="roundRect">
            <a:avLst>
              <a:gd name="adj" fmla="val 102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responsibility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0" y="2194560"/>
            <a:ext cx="374904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tests: executable test cases.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 err="1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playwright.config</a:t>
            </a: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runner and browser behavior.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package.json: dependencies and scripts.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README: team usage and commands.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FA58DB-D8DA-DED3-B910-54183728A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23564"/>
            <a:ext cx="4023360" cy="41194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Codegen: Record and Play &amp; Inspect 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Codegen for discovery, not blind automation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5239" y="1389888"/>
            <a:ext cx="7175413" cy="3717902"/>
          </a:xfrm>
          <a:prstGeom prst="roundRect">
            <a:avLst>
              <a:gd name="adj" fmla="val 1429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1543" y="1481327"/>
            <a:ext cx="6832708" cy="35054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https://www.saucedemo.com/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Generated draft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</a:p>
          <a:p>
            <a:endParaRPr lang="en-US" sz="1300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test('test', async ({ page }) =&gt; {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page.goto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('https://www.saucedemo.com/');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('[data-test="username"]').click();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('[data-test="username"]').fill('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standard_user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('[data-test="password"]').click();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('[data-test="password"]').fill('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secret_sauce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('[data-test="login-button"]').click();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page.getByText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('Swag Labs')).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toBeVisible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('[data-test="inventory-container"]')).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toBeVisible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352332-72C1-1584-3743-C8DF4B4F7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345" y="1839916"/>
            <a:ext cx="4217189" cy="2421188"/>
          </a:xfrm>
          <a:prstGeom prst="rect">
            <a:avLst/>
          </a:prstGeom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D3DBAD55-BCE1-3872-F767-DE810FEBFEDB}"/>
              </a:ext>
            </a:extLst>
          </p:cNvPr>
          <p:cNvSpPr/>
          <p:nvPr/>
        </p:nvSpPr>
        <p:spPr>
          <a:xfrm>
            <a:off x="325239" y="5601566"/>
            <a:ext cx="5669280" cy="822960"/>
          </a:xfrm>
          <a:prstGeom prst="roundRect">
            <a:avLst>
              <a:gd name="adj" fmla="val 555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6891FC3-9404-35DB-81EF-D5C92B83A9A3}"/>
              </a:ext>
            </a:extLst>
          </p:cNvPr>
          <p:cNvSpPr/>
          <p:nvPr/>
        </p:nvSpPr>
        <p:spPr>
          <a:xfrm>
            <a:off x="553839" y="5665574"/>
            <a:ext cx="53766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</a:t>
            </a:r>
            <a:r>
              <a:rPr lang="en-US" sz="2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Terminal</a:t>
            </a:r>
            <a:b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2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 playwright@latest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 anatomy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intent before recording actions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7492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35331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98448"/>
            <a:ext cx="43251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name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432511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 and optional AC 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07492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45936" y="135331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298448"/>
            <a:ext cx="43251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1554480"/>
            <a:ext cx="432511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Setup, data, and starting 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240280"/>
            <a:ext cx="507492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9536" y="240487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350008"/>
            <a:ext cx="43251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606040"/>
            <a:ext cx="432511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actions and navigation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240280"/>
            <a:ext cx="507492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240487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2350008"/>
            <a:ext cx="43251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2606040"/>
            <a:ext cx="432511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behavior and evidence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5074920" cy="694944"/>
          </a:xfrm>
          <a:prstGeom prst="roundRect">
            <a:avLst>
              <a:gd name="adj" fmla="val 6579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9536" y="345643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401568"/>
            <a:ext cx="43251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3657600"/>
            <a:ext cx="432511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Result, errors, and artifacts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663440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7824" y="4754880"/>
            <a:ext cx="61081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test(‘TC-001: verify login into the app',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 }) =&gt;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Arrange → Act → Assert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60920" y="4800600"/>
            <a:ext cx="37947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M8 deepens assertion design; M6 deepens lifecycle control.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file naming and discovery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Playwright discover the intended 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669280" cy="3474720"/>
          </a:xfrm>
          <a:prstGeom prst="roundRect">
            <a:avLst>
              <a:gd name="adj" fmla="val 1316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1280160"/>
            <a:ext cx="5376672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login.spec.ts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checkout.spec.ts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search.spec.ts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Playwright convention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*.spec.ts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Alternative requires configuration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testMatch: '**/*.test.ts'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188720"/>
            <a:ext cx="4480560" cy="3474720"/>
          </a:xfrm>
          <a:prstGeom prst="roundRect">
            <a:avLst>
              <a:gd name="adj" fmla="val 1316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rule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40880" y="2194560"/>
            <a:ext cx="36576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convention across the team.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convention to testMatch.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files by feature or behavior.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ambiguous names.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rule in README.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166360"/>
            <a:ext cx="10378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course, prefer the native *.spec.ts convention.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Run, debug, and report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execution mode for the learning goal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760720" cy="2310038"/>
          </a:xfrm>
          <a:prstGeom prst="roundRect">
            <a:avLst>
              <a:gd name="adj" fmla="val 1471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7824" y="1325880"/>
            <a:ext cx="5468112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test:headed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test:debug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-g 'verify login into'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--project=chromium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playwright show-report</a:t>
            </a:r>
          </a:p>
        </p:txBody>
      </p:sp>
      <p:sp>
        <p:nvSpPr>
          <p:cNvPr id="8" name="Shape 6"/>
          <p:cNvSpPr/>
          <p:nvPr/>
        </p:nvSpPr>
        <p:spPr>
          <a:xfrm>
            <a:off x="6812280" y="1234441"/>
            <a:ext cx="4389120" cy="2310038"/>
          </a:xfrm>
          <a:prstGeom prst="roundRect">
            <a:avLst>
              <a:gd name="adj" fmla="val 1471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0" y="1428589"/>
            <a:ext cx="3749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58584" y="1783080"/>
            <a:ext cx="4275268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Test: by default, in headless mode.</a:t>
            </a: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Headed: show actions in browser.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Debug: debug mode, inspect step by step.</a:t>
            </a:r>
            <a:endParaRPr lang="en-US" sz="1500" dirty="0"/>
          </a:p>
          <a:p>
            <a:pPr marL="190500" indent="-190500">
              <a:buSzPct val="100000"/>
              <a:buFontTx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-g: filter and execute the test cases that match(exact or partial) their names. </a:t>
            </a: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--project: select browser/device.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Show-report: review results and evidence.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6288990"/>
            <a:ext cx="10378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observes the execution; M11 and M12 deepen evidence and delivery.</a:t>
            </a:r>
            <a:endParaRPr lang="en-US" sz="1500" dirty="0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F62D2497-B415-47B1-91CB-1C16579F6AC7}"/>
              </a:ext>
            </a:extLst>
          </p:cNvPr>
          <p:cNvSpPr/>
          <p:nvPr/>
        </p:nvSpPr>
        <p:spPr>
          <a:xfrm>
            <a:off x="5530204" y="4978908"/>
            <a:ext cx="6400800" cy="557784"/>
          </a:xfrm>
          <a:prstGeom prst="roundRect">
            <a:avLst>
              <a:gd name="adj" fmla="val 4762"/>
            </a:avLst>
          </a:prstGeom>
          <a:solidFill>
            <a:srgbClr val="26343B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9FCC5EA5-8BC4-25ED-2405-4F89B28121FB}"/>
              </a:ext>
            </a:extLst>
          </p:cNvPr>
          <p:cNvSpPr/>
          <p:nvPr/>
        </p:nvSpPr>
        <p:spPr>
          <a:xfrm>
            <a:off x="5679556" y="5074920"/>
            <a:ext cx="62514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test('TC-001: verify login into the app', ...) // ✅</a:t>
            </a:r>
          </a:p>
          <a:p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test(‘TC-010: verify invalid login credentials gets error', ...) // ❌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A385142-DF88-BF21-A651-C066522B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33014"/>
            <a:ext cx="4757993" cy="2240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56B32-51F0-4F29-642E-F72C18C8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D8D755-C1A5-0EF7-EA28-C0E7C5D57290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Run, debug, and report</a:t>
            </a:r>
            <a:endParaRPr lang="en-US" sz="25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85841F-87E8-D8B2-5258-79A3D363794E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50B552-4003-B65A-C121-6A1AE603E72F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execution mode for the learning goal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B88679-465A-CB24-589A-34222EE5E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61" y="1636208"/>
            <a:ext cx="9985278" cy="380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 | Session Summary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99516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objectives, Wrap-Up, Key Takeaways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5256" y="171907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Node.js, npm, VS Code, Playwright, Chromium, and Git installation.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235915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0428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a Playwright TypeScript project.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5256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4436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main configuration files.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47472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" y="363931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anatomy of an executable test case.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11480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5256" y="427939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22452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Codegen as a draft and review the generated code.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48056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475488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5256" y="4919472"/>
            <a:ext cx="3108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864608"/>
            <a:ext cx="9765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test locally and open the first report.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5120640"/>
            <a:ext cx="9765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60F76B6-F98D-E14C-9262-234F6E1CEAFD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 | Activities</a:t>
            </a:r>
            <a:endParaRPr lang="en-US" sz="25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80B6879-C0B5-9B90-CEA1-6FF1C514F0E4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7B0CD9E-6F51-D2C2-0DDA-06DD23202A86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Assignments &amp; Next Steps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39D7AF7-573C-4709-98AC-48238E1981F9}"/>
              </a:ext>
            </a:extLst>
          </p:cNvPr>
          <p:cNvSpPr/>
          <p:nvPr/>
        </p:nvSpPr>
        <p:spPr>
          <a:xfrm>
            <a:off x="777240" y="16093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A3AB5C0-B3D2-3569-ADE9-C7720FAFC0F0}"/>
              </a:ext>
            </a:extLst>
          </p:cNvPr>
          <p:cNvSpPr/>
          <p:nvPr/>
        </p:nvSpPr>
        <p:spPr>
          <a:xfrm>
            <a:off x="1325880" y="1588982"/>
            <a:ext cx="9784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41D4A77-C63C-7170-FE80-759142FE5375}"/>
              </a:ext>
            </a:extLst>
          </p:cNvPr>
          <p:cNvSpPr/>
          <p:nvPr/>
        </p:nvSpPr>
        <p:spPr>
          <a:xfrm>
            <a:off x="777240" y="224942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9EBBADA-18D7-1B9B-C9B3-DEF580195346}"/>
              </a:ext>
            </a:extLst>
          </p:cNvPr>
          <p:cNvSpPr/>
          <p:nvPr/>
        </p:nvSpPr>
        <p:spPr>
          <a:xfrm>
            <a:off x="777240" y="288950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1304541-432F-721D-66F1-E21992457327}"/>
              </a:ext>
            </a:extLst>
          </p:cNvPr>
          <p:cNvSpPr/>
          <p:nvPr/>
        </p:nvSpPr>
        <p:spPr>
          <a:xfrm>
            <a:off x="777240" y="352958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2521790-BD3B-E6B3-E727-1D01A4732D11}"/>
              </a:ext>
            </a:extLst>
          </p:cNvPr>
          <p:cNvSpPr/>
          <p:nvPr/>
        </p:nvSpPr>
        <p:spPr>
          <a:xfrm>
            <a:off x="777240" y="416966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108AFD4A-C18B-51A7-4C56-86F67724083A}"/>
              </a:ext>
            </a:extLst>
          </p:cNvPr>
          <p:cNvSpPr/>
          <p:nvPr/>
        </p:nvSpPr>
        <p:spPr>
          <a:xfrm>
            <a:off x="777240" y="48097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1E4E1-B91B-1B80-E672-769660F7A87E}"/>
              </a:ext>
            </a:extLst>
          </p:cNvPr>
          <p:cNvSpPr txBox="1"/>
          <p:nvPr/>
        </p:nvSpPr>
        <p:spPr>
          <a:xfrm>
            <a:off x="304138" y="5433918"/>
            <a:ext cx="10952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Next Module: 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Design Patterns &amp; Framework Architecture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Separate responsibilities so the framework becomes stable, readable, and easier to evolve</a:t>
            </a: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EFA8420F-E61B-101E-AEF3-33476523B2CB}"/>
              </a:ext>
            </a:extLst>
          </p:cNvPr>
          <p:cNvSpPr/>
          <p:nvPr/>
        </p:nvSpPr>
        <p:spPr>
          <a:xfrm>
            <a:off x="1161288" y="1385992"/>
            <a:ext cx="3759798" cy="3612478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pPr fontAlgn="t">
              <a:lnSpc>
                <a:spcPct val="90000"/>
              </a:lnSpc>
              <a:buNone/>
            </a:pPr>
            <a:r>
              <a:rPr lang="en-US" b="1" dirty="0">
                <a:solidFill>
                  <a:srgbClr val="335B74"/>
                </a:solidFill>
                <a:latin typeface="Aptos" pitchFamily="34" charset="0"/>
              </a:rPr>
              <a:t> Required Actions</a:t>
            </a:r>
          </a:p>
          <a:p>
            <a:pPr fontAlgn="t">
              <a:lnSpc>
                <a:spcPct val="90000"/>
              </a:lnSpc>
              <a:buNone/>
            </a:pPr>
            <a:endParaRPr lang="en-US" b="1" dirty="0">
              <a:solidFill>
                <a:schemeClr val="tx2"/>
              </a:solidFill>
              <a:latin typeface="Aptos" pitchFamily="34" charset="0"/>
            </a:endParaRPr>
          </a:p>
          <a:p>
            <a:pPr fontAlgn="t">
              <a:lnSpc>
                <a:spcPct val="90000"/>
              </a:lnSpc>
              <a:buNone/>
            </a:pPr>
            <a:endParaRPr lang="en-US" b="1" dirty="0">
              <a:solidFill>
                <a:schemeClr val="tx2"/>
              </a:solidFill>
              <a:latin typeface="Aptos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</a:rPr>
              <a:t>📋 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Initialize the project.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</a:rPr>
              <a:t>📋 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Use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Codegen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as a draft.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</a:rPr>
              <a:t>📋 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Execute the test case.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</a:rPr>
              <a:t>📋 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Push your code.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A3B9DBE-64AB-A78D-9F0D-C54CB14E6B63}"/>
              </a:ext>
            </a:extLst>
          </p:cNvPr>
          <p:cNvSpPr/>
          <p:nvPr/>
        </p:nvSpPr>
        <p:spPr>
          <a:xfrm>
            <a:off x="6408985" y="1295530"/>
            <a:ext cx="4043861" cy="3597701"/>
          </a:xfrm>
          <a:prstGeom prst="roundRect">
            <a:avLst>
              <a:gd name="adj" fmla="val 1282"/>
            </a:avLst>
          </a:prstGeom>
          <a:solidFill>
            <a:srgbClr val="FFF4E8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FB73CA2-34B4-0635-515D-9ECF25675ACB}"/>
              </a:ext>
            </a:extLst>
          </p:cNvPr>
          <p:cNvSpPr/>
          <p:nvPr/>
        </p:nvSpPr>
        <p:spPr>
          <a:xfrm>
            <a:off x="5776974" y="1405241"/>
            <a:ext cx="3794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algn="ctr"/>
            <a:r>
              <a:rPr lang="en-US" sz="1900" b="1" dirty="0">
                <a:solidFill>
                  <a:srgbClr val="B26B02"/>
                </a:solidFill>
                <a:latin typeface="Aptos" pitchFamily="34" charset="0"/>
              </a:rPr>
              <a:t>Evidence to submit</a:t>
            </a: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9D11A29-0234-CF99-409E-1420E7E9EB02}"/>
              </a:ext>
            </a:extLst>
          </p:cNvPr>
          <p:cNvSpPr/>
          <p:nvPr/>
        </p:nvSpPr>
        <p:spPr>
          <a:xfrm>
            <a:off x="6523616" y="1637484"/>
            <a:ext cx="3680129" cy="227976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files created.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 documented.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Passing execution.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opened.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</a:rPr>
              <a:t>Repo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ptos" pitchFamily="34" charset="0"/>
              </a:rPr>
              <a:t>url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</a:rPr>
              <a:t>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52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5511</TotalTime>
  <Words>888</Words>
  <Application>Microsoft Office PowerPoint</Application>
  <PresentationFormat>Widescreen</PresentationFormat>
  <Paragraphs>177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Web Automation Fundamentals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3 - Framework Setup and First Test</dc:title>
  <dc:subject>Playwright setup, project configuration, Codegen, test anatomy, execution, reporting, and M4 handoff</dc:subject>
  <dc:creator>Eliana Navia</dc:creator>
  <cp:lastModifiedBy>Eliana Navia</cp:lastModifiedBy>
  <cp:revision>42</cp:revision>
  <dcterms:created xsi:type="dcterms:W3CDTF">2026-09-30T23:29:34Z</dcterms:created>
  <dcterms:modified xsi:type="dcterms:W3CDTF">2026-10-16T00:32:29Z</dcterms:modified>
</cp:coreProperties>
</file>