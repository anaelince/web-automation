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9" r:id="rId4"/>
    <p:sldId id="261" r:id="rId5"/>
    <p:sldId id="262" r:id="rId6"/>
    <p:sldId id="264" r:id="rId7"/>
    <p:sldId id="276" r:id="rId8"/>
    <p:sldId id="263" r:id="rId9"/>
    <p:sldId id="284" r:id="rId10"/>
    <p:sldId id="280" r:id="rId11"/>
    <p:sldId id="286" r:id="rId12"/>
    <p:sldId id="287" r:id="rId13"/>
    <p:sldId id="288" r:id="rId14"/>
    <p:sldId id="289" r:id="rId15"/>
    <p:sldId id="290" r:id="rId16"/>
    <p:sldId id="282" r:id="rId17"/>
    <p:sldId id="266" r:id="rId18"/>
    <p:sldId id="285" r:id="rId19"/>
    <p:sldId id="267" r:id="rId20"/>
    <p:sldId id="268" r:id="rId21"/>
    <p:sldId id="269" r:id="rId22"/>
    <p:sldId id="258" r:id="rId23"/>
    <p:sldId id="275" r:id="rId24"/>
    <p:sldId id="291" r:id="rId2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6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13756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jalacorp.sharepoint.com/sites/RepositorioGrupoJala/Policies%20and%20Profiles/Forms/AllItems.aspx?id=%2Fsites%2FRepositorioGrupoJala%2FPolicies%20and%20Profiles%2FEngineering%2FIngenieria%20JCE%2FJCE%20%2D%20Jalasoft%20Core%20Engineer%20V2%2E1%2Epdf&amp;parent=%2Fsites%2FRepositorioGrupoJala%2FPolicies%20and%20Profiles%2FEngineering%2FIngenieria%20JCE&amp;p=true&amp;ct=1785804667088&amp;or=Outlook%2DBody&amp;cid=4BFAF256%2DFE07%2D497D%2DAF72%2D380E627FE43F&amp;ga=1&amp;isSPOFile=1&amp;xsdata=MDV8MDJ8fDhmYjc4YzBlNDRhZjRhNDk3MmIwMDhkZjI1NDJhYTk2fDY3ZmMxOWM0MzAxYzRmOThhYWI5ODI3ZDdlMTY1ZWRjfDB8MHw2MzkyNzA2NDAzNjk5NTU1MDR8VW5rbm93bnxWR1ZoYlhOVFpXTjFjbWwwZVZObGNuWnBZMlY4ZXlKRFFTSTZJbFJsWVcxelgwRlVVRk5sY25acFkyVmZVMUJQVEU5R0lpd2lWaUk2SWpBdU1DNHdNREF3SWl3aVVDSTZJbGRwYmpNeUlpd2lRVTRpT2lKUGRHaGxjaUlzSWxkVUlqb3hNWDA9fDF8TDJOb1lYUnpMekU1T20xbFpYUnBibWRmVFVScmVrOUVVbWxhVkdOMFQwUkdiVmw1TURCTmFsbDRURmRHYlUxVVFYUk5SMGw2V1hwamVsbDZRVEZPVkZVeVFIUm9jbVZoWkM1Mk1pOXRaWE56WVdkbGN5OHhOemt4TkRZM01qTXpPVGczfDBlZDI0ZDVjNzQyMzQyNjhmNzhkMDhkZjI1NDJhYTk1fDNjNzlkYmJlMjM1OTQ1ZWVhYTc2ZTk4YmQxOTJkZGVl&amp;sdata=a0NHMnJNOEtDYkJRbVh0M2NoT2xuUGhPQjE1NjJId3cyZ3l2NW5zcndpST0%3D&amp;ovuser=67fc19c4-301c-4f98-aab9-827d7e165edc%2CEliana.Navia%40jalasoft.com" TargetMode="Externa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35B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143000"/>
            <a:ext cx="10789920" cy="5943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 automation with playwright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13232" y="1965960"/>
            <a:ext cx="1005840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CAD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Introduction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73152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Instructor: Eliana Navia Claros</a:t>
            </a:r>
            <a:endParaRPr lang="en-US" sz="15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7BF1800-98D6-5CE7-9DD9-7EB7BA4326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74" y="0"/>
            <a:ext cx="12188726" cy="685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14ACEC7-7550-33B9-7F5B-FBDC57F47B9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730"/>
          <a:stretch>
            <a:fillRect/>
          </a:stretch>
        </p:blipFill>
        <p:spPr>
          <a:xfrm>
            <a:off x="20" y="975"/>
            <a:ext cx="12191980" cy="685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3709CCA-697C-B8E2-14EE-5CFFE5B06C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96786" y="3064931"/>
            <a:ext cx="8295215" cy="2488568"/>
          </a:xfrm>
          <a:prstGeom prst="rect">
            <a:avLst/>
          </a:prstGeom>
          <a:solidFill>
            <a:srgbClr val="000001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728934C2-3EC6-C356-91B5-6647C3D58930}"/>
              </a:ext>
            </a:extLst>
          </p:cNvPr>
          <p:cNvSpPr txBox="1">
            <a:spLocks/>
          </p:cNvSpPr>
          <p:nvPr/>
        </p:nvSpPr>
        <p:spPr>
          <a:xfrm>
            <a:off x="4309349" y="3429000"/>
            <a:ext cx="7501651" cy="1090938"/>
          </a:xfrm>
          <a:prstGeom prst="rect">
            <a:avLst/>
          </a:prstGeom>
        </p:spPr>
        <p:txBody>
          <a:bodyPr anchor="b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>
                <a:solidFill>
                  <a:srgbClr val="FFFFFF"/>
                </a:solidFill>
              </a:rPr>
              <a:t>Web automation with playwright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2D6E1F7A-4C37-C6A4-0C88-EBC5CB8489F4}"/>
              </a:ext>
            </a:extLst>
          </p:cNvPr>
          <p:cNvSpPr txBox="1">
            <a:spLocks/>
          </p:cNvSpPr>
          <p:nvPr/>
        </p:nvSpPr>
        <p:spPr>
          <a:xfrm>
            <a:off x="4309349" y="4779313"/>
            <a:ext cx="7501650" cy="514816"/>
          </a:xfrm>
          <a:prstGeom prst="rect">
            <a:avLst/>
          </a:prstGeom>
        </p:spPr>
        <p:txBody>
          <a:bodyPr anchor="t">
            <a:normAutofit fontScale="925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FFFFFF"/>
                </a:solidFill>
              </a:rPr>
              <a:t>Project Scope &amp; Automation Foundations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E2A8CEB-15BF-0234-D2FE-F27434EE92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09349" y="4666480"/>
            <a:ext cx="6832499" cy="0"/>
          </a:xfrm>
          <a:prstGeom prst="line">
            <a:avLst/>
          </a:prstGeom>
          <a:ln w="22225">
            <a:solidFill>
              <a:srgbClr val="E05E8C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BF85EC2A-A8C7-16DF-22E6-35DB4F91C4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47189" y="163629"/>
            <a:ext cx="1697159" cy="550305"/>
          </a:xfrm>
          <a:prstGeom prst="rect">
            <a:avLst/>
          </a:prstGeom>
        </p:spPr>
      </p:pic>
      <p:sp>
        <p:nvSpPr>
          <p:cNvPr id="12" name="Subtitle 2">
            <a:extLst>
              <a:ext uri="{FF2B5EF4-FFF2-40B4-BE49-F238E27FC236}">
                <a16:creationId xmlns:a16="http://schemas.microsoft.com/office/drawing/2014/main" id="{21622234-0013-1533-6D14-B94CB142F8E6}"/>
              </a:ext>
            </a:extLst>
          </p:cNvPr>
          <p:cNvSpPr txBox="1">
            <a:spLocks/>
          </p:cNvSpPr>
          <p:nvPr/>
        </p:nvSpPr>
        <p:spPr>
          <a:xfrm>
            <a:off x="223948" y="6342209"/>
            <a:ext cx="7501650" cy="51481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None/>
              <a:defRPr sz="18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FFFFFF"/>
                </a:solidFill>
              </a:rPr>
              <a:t>Instructor: Eliana Navia Claros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build="p"/>
      <p:bldP spid="12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35B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914400"/>
            <a:ext cx="10789920" cy="548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 automation with Playwright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13232" y="1737360"/>
            <a:ext cx="1005840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CAD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 2  |  Introduction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731520" y="2377440"/>
            <a:ext cx="1005840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Purpose, strategy, frameworks, tools, measurable benefits, and responsible AI use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31520" y="3657600"/>
            <a:ext cx="2148840" cy="1097280"/>
          </a:xfrm>
          <a:prstGeom prst="roundRect">
            <a:avLst>
              <a:gd name="adj" fmla="val 4167"/>
            </a:avLst>
          </a:prstGeom>
          <a:solidFill>
            <a:srgbClr val="2683C6"/>
          </a:solidFill>
          <a:ln w="12700">
            <a:solidFill>
              <a:srgbClr val="2683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3822192"/>
            <a:ext cx="187452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4160520"/>
            <a:ext cx="187452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automate?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3657600"/>
            <a:ext cx="2148840" cy="1097280"/>
          </a:xfrm>
          <a:prstGeom prst="roundRect">
            <a:avLst>
              <a:gd name="adj" fmla="val 4167"/>
            </a:avLst>
          </a:prstGeom>
          <a:solidFill>
            <a:srgbClr val="27CED7"/>
          </a:solidFill>
          <a:ln w="12700">
            <a:solidFill>
              <a:srgbClr val="27CE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429000" y="3822192"/>
            <a:ext cx="187452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429000" y="4160520"/>
            <a:ext cx="187452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to choose?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852160" y="3657600"/>
            <a:ext cx="2148840" cy="1097280"/>
          </a:xfrm>
          <a:prstGeom prst="roundRect">
            <a:avLst>
              <a:gd name="adj" fmla="val 4167"/>
            </a:avLst>
          </a:prstGeom>
          <a:solidFill>
            <a:srgbClr val="3E8853"/>
          </a:solidFill>
          <a:ln w="12700">
            <a:solidFill>
              <a:srgbClr val="3E88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989320" y="3822192"/>
            <a:ext cx="187452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989320" y="4160520"/>
            <a:ext cx="187452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to test?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412480" y="3657600"/>
            <a:ext cx="2148840" cy="1097280"/>
          </a:xfrm>
          <a:prstGeom prst="roundRect">
            <a:avLst>
              <a:gd name="adj" fmla="val 4167"/>
            </a:avLst>
          </a:prstGeom>
          <a:solidFill>
            <a:srgbClr val="B26B02"/>
          </a:solidFill>
          <a:ln w="12700">
            <a:solidFill>
              <a:srgbClr val="B26B0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549640" y="3822192"/>
            <a:ext cx="187452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549640" y="4160520"/>
            <a:ext cx="187452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responsibly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1520" y="6060141"/>
            <a:ext cx="10399955" cy="38548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fontScale="47500" lnSpcReduction="20000"/>
          </a:bodyPr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outcome: Learn how to identify, analyze, and justify automation opportunities while defining the baseline for your automation framework</a:t>
            </a: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</a:p>
          <a:p>
            <a:pPr marL="0" indent="0" algn="ctr">
              <a:buNone/>
            </a:pP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335B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 and scope of test automation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749808"/>
            <a:ext cx="1005840" cy="64008"/>
          </a:xfrm>
          <a:prstGeom prst="rect">
            <a:avLst/>
          </a:prstGeom>
          <a:solidFill>
            <a:srgbClr val="1CADE4"/>
          </a:solidFill>
          <a:ln w="12700">
            <a:solidFill>
              <a:srgbClr val="1CAD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645920" y="667512"/>
            <a:ext cx="987552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673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Why? - Automation creates repeatable feedback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85800" y="1234440"/>
            <a:ext cx="3291840" cy="4480560"/>
          </a:xfrm>
          <a:prstGeom prst="roundRect">
            <a:avLst>
              <a:gd name="adj" fmla="val 1389"/>
            </a:avLst>
          </a:prstGeom>
          <a:solidFill>
            <a:srgbClr val="EFF4F6"/>
          </a:solidFill>
          <a:ln w="12700">
            <a:solidFill>
              <a:srgbClr val="D5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60120" y="1554480"/>
            <a:ext cx="274320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683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AUTOMATION IS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2057400"/>
            <a:ext cx="2743200" cy="11430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63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Software that executes checks, compares actual and expected behavior, and reports the result.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960120" y="4160520"/>
            <a:ext cx="274320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B26B0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just a sequence of clicks.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60120" y="4617720"/>
            <a:ext cx="2743200" cy="640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6673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test needs a purpose, an expectation, and an objective result.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389120" y="1280160"/>
            <a:ext cx="640080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335B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basic automated test cycle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389120" y="1874520"/>
            <a:ext cx="1874520" cy="1024128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12700">
            <a:solidFill>
              <a:srgbClr val="1CAD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498848" y="1984248"/>
            <a:ext cx="27432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CAD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828032" y="1984248"/>
            <a:ext cx="128016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35B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Arrange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498848" y="2377440"/>
            <a:ext cx="164592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6673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Data, user, browser state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675120" y="1874520"/>
            <a:ext cx="1874520" cy="1024128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12700">
            <a:solidFill>
              <a:srgbClr val="1CAD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784848" y="1984248"/>
            <a:ext cx="27432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CAD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114032" y="1984248"/>
            <a:ext cx="128016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35B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784848" y="2377440"/>
            <a:ext cx="164592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6673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Interact with application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961120" y="1874520"/>
            <a:ext cx="1874520" cy="1024128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12700">
            <a:solidFill>
              <a:srgbClr val="1CAD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070848" y="1984248"/>
            <a:ext cx="27432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CAD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9400032" y="1984248"/>
            <a:ext cx="128016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35B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Assert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070848" y="2377440"/>
            <a:ext cx="164592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6673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expected behavior with acceptance criteria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89120" y="3474720"/>
            <a:ext cx="1874520" cy="1024128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12700">
            <a:solidFill>
              <a:srgbClr val="1CAD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498848" y="3584448"/>
            <a:ext cx="27432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CAD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4828032" y="3584448"/>
            <a:ext cx="128016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35B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498848" y="3977640"/>
            <a:ext cx="164592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6673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 evidence and outcome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675120" y="3474720"/>
            <a:ext cx="1874520" cy="1024128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12700">
            <a:solidFill>
              <a:srgbClr val="1CAD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784848" y="3584448"/>
            <a:ext cx="27432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CAD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7114032" y="3584448"/>
            <a:ext cx="128016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35B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Clean up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784848" y="3977640"/>
            <a:ext cx="164592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6673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Isolate the next test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389120" y="5394960"/>
            <a:ext cx="640080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E88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Good candidates are repeated, valuable, stable enough, and objectively verifiable.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335B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 vs. automated testing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749808"/>
            <a:ext cx="1005840" cy="64008"/>
          </a:xfrm>
          <a:prstGeom prst="rect">
            <a:avLst/>
          </a:prstGeom>
          <a:solidFill>
            <a:srgbClr val="1CADE4"/>
          </a:solidFill>
          <a:ln w="12700">
            <a:solidFill>
              <a:srgbClr val="1CAD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645920" y="667512"/>
            <a:ext cx="987552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1000" dirty="0">
                <a:solidFill>
                  <a:srgbClr val="6673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Why? -  Complementary approaches, different strengths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85800" y="1234440"/>
            <a:ext cx="5166360" cy="4526280"/>
          </a:xfrm>
          <a:prstGeom prst="roundRect">
            <a:avLst>
              <a:gd name="adj" fmla="val 1010"/>
            </a:avLst>
          </a:prstGeom>
          <a:solidFill>
            <a:srgbClr val="EFF4F6"/>
          </a:solidFill>
          <a:ln w="12700">
            <a:solidFill>
              <a:srgbClr val="D5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035040" y="1234440"/>
            <a:ext cx="5166360" cy="4526280"/>
          </a:xfrm>
          <a:prstGeom prst="roundRect">
            <a:avLst>
              <a:gd name="adj" fmla="val 1010"/>
            </a:avLst>
          </a:prstGeom>
          <a:solidFill>
            <a:srgbClr val="E8F7FA"/>
          </a:solidFill>
          <a:ln w="12700">
            <a:solidFill>
              <a:srgbClr val="D5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05840" y="1554480"/>
            <a:ext cx="448056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335B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 TESTING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005840" y="2148840"/>
            <a:ext cx="4389120" cy="1920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263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Exploration of new behavior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263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Usability and visual judgment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263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Investigation of unexpected results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263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Ambiguous or rapidly changing features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05840" y="4846320"/>
            <a:ext cx="448056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26B0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Strength: human observation and adaptability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355080" y="1554480"/>
            <a:ext cx="448056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683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AUTOMATED TESTING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6355080" y="2148840"/>
            <a:ext cx="4389120" cy="1920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263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Regression and smoke checks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263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Repeated critical workflows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263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and browser combinations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263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 feedback in CI/CD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355080" y="4846320"/>
            <a:ext cx="448056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E88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Strength: repeatability and speed at scale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97280" y="5989320"/>
            <a:ext cx="1005840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35B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goal is useful feedback—not the maximum number of automated tests.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335B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role of automation in modern testing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25780" y="832104"/>
            <a:ext cx="1005840" cy="64008"/>
          </a:xfrm>
          <a:prstGeom prst="rect">
            <a:avLst/>
          </a:prstGeom>
          <a:solidFill>
            <a:srgbClr val="1CADE4"/>
          </a:solidFill>
          <a:ln w="12700">
            <a:solidFill>
              <a:srgbClr val="1CAD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645920" y="749808"/>
            <a:ext cx="987552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673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Why? - Fast feedback from code change to delivery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85800" y="2011680"/>
            <a:ext cx="1691640" cy="960120"/>
          </a:xfrm>
          <a:prstGeom prst="roundRect">
            <a:avLst>
              <a:gd name="adj" fmla="val 4762"/>
            </a:avLst>
          </a:prstGeom>
          <a:solidFill>
            <a:srgbClr val="2683C6"/>
          </a:solidFill>
          <a:ln w="12700">
            <a:solidFill>
              <a:srgbClr val="2683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2267712"/>
            <a:ext cx="150876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 change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468880" y="2267712"/>
            <a:ext cx="32004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1CAD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&gt;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2926080" y="2011680"/>
            <a:ext cx="1691640" cy="960120"/>
          </a:xfrm>
          <a:prstGeom prst="roundRect">
            <a:avLst>
              <a:gd name="adj" fmla="val 4762"/>
            </a:avLst>
          </a:prstGeom>
          <a:solidFill>
            <a:srgbClr val="2683C6"/>
          </a:solidFill>
          <a:ln w="12700">
            <a:solidFill>
              <a:srgbClr val="2683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017520" y="2267712"/>
            <a:ext cx="150876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checks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09160" y="2267712"/>
            <a:ext cx="32004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1CAD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&gt;</a:t>
            </a:r>
            <a:endParaRPr lang="en-US" sz="2300" dirty="0"/>
          </a:p>
        </p:txBody>
      </p:sp>
      <p:sp>
        <p:nvSpPr>
          <p:cNvPr id="12" name="Shape 10"/>
          <p:cNvSpPr/>
          <p:nvPr/>
        </p:nvSpPr>
        <p:spPr>
          <a:xfrm>
            <a:off x="5166360" y="2011680"/>
            <a:ext cx="1691640" cy="960120"/>
          </a:xfrm>
          <a:prstGeom prst="roundRect">
            <a:avLst>
              <a:gd name="adj" fmla="val 4762"/>
            </a:avLst>
          </a:prstGeom>
          <a:solidFill>
            <a:srgbClr val="2683C6"/>
          </a:solidFill>
          <a:ln w="12700">
            <a:solidFill>
              <a:srgbClr val="2683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257800" y="2267712"/>
            <a:ext cx="150876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Pull request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949440" y="2267712"/>
            <a:ext cx="32004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1CAD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&gt;</a:t>
            </a:r>
            <a:endParaRPr lang="en-US" sz="2300" dirty="0"/>
          </a:p>
        </p:txBody>
      </p:sp>
      <p:sp>
        <p:nvSpPr>
          <p:cNvPr id="15" name="Shape 13"/>
          <p:cNvSpPr/>
          <p:nvPr/>
        </p:nvSpPr>
        <p:spPr>
          <a:xfrm>
            <a:off x="7406640" y="2011680"/>
            <a:ext cx="1691640" cy="960120"/>
          </a:xfrm>
          <a:prstGeom prst="roundRect">
            <a:avLst>
              <a:gd name="adj" fmla="val 4762"/>
            </a:avLst>
          </a:prstGeom>
          <a:solidFill>
            <a:srgbClr val="2683C6"/>
          </a:solidFill>
          <a:ln w="12700">
            <a:solidFill>
              <a:srgbClr val="2683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498080" y="2267712"/>
            <a:ext cx="150876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 pipeline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189720" y="2267712"/>
            <a:ext cx="32004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1CAD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&gt;</a:t>
            </a:r>
            <a:endParaRPr lang="en-US" sz="2300" dirty="0"/>
          </a:p>
        </p:txBody>
      </p:sp>
      <p:sp>
        <p:nvSpPr>
          <p:cNvPr id="18" name="Shape 16"/>
          <p:cNvSpPr/>
          <p:nvPr/>
        </p:nvSpPr>
        <p:spPr>
          <a:xfrm>
            <a:off x="9646920" y="2011680"/>
            <a:ext cx="1691640" cy="960120"/>
          </a:xfrm>
          <a:prstGeom prst="roundRect">
            <a:avLst>
              <a:gd name="adj" fmla="val 4762"/>
            </a:avLst>
          </a:prstGeom>
          <a:solidFill>
            <a:srgbClr val="3E8853"/>
          </a:solidFill>
          <a:ln w="12700">
            <a:solidFill>
              <a:srgbClr val="3E88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738360" y="2267712"/>
            <a:ext cx="150876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Reports &amp; feedback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14400" y="3977640"/>
            <a:ext cx="274320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335B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Automation supports: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914400" y="4434840"/>
            <a:ext cx="4389120" cy="1325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263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Early defect detection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263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Repeatable regression coverage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263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Evidence: traces, screenshots, logs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263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Safer and faster releases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00800" y="3977640"/>
            <a:ext cx="365760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335B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Prioritize using risk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6400800" y="4480560"/>
            <a:ext cx="4297680" cy="7315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263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impact × probability × frequency × cost of manual repetition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335B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testing pyramid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749808"/>
            <a:ext cx="1005840" cy="64008"/>
          </a:xfrm>
          <a:prstGeom prst="rect">
            <a:avLst/>
          </a:prstGeom>
          <a:solidFill>
            <a:srgbClr val="1CADE4"/>
          </a:solidFill>
          <a:ln w="12700">
            <a:solidFill>
              <a:srgbClr val="1CAD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645920" y="667512"/>
            <a:ext cx="987552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673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Why? - Use the lowest level that provides reliable evidence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754880" y="1325880"/>
            <a:ext cx="2468880" cy="822960"/>
          </a:xfrm>
          <a:prstGeom prst="roundRect">
            <a:avLst>
              <a:gd name="adj" fmla="val 5556"/>
            </a:avLst>
          </a:prstGeom>
          <a:solidFill>
            <a:srgbClr val="B26B02"/>
          </a:solidFill>
          <a:ln w="12700">
            <a:solidFill>
              <a:srgbClr val="B26B0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754880" y="1472184"/>
            <a:ext cx="2468880" cy="2103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End-to-end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754880" y="1783080"/>
            <a:ext cx="246888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Few, realistic, expensive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840480" y="2286000"/>
            <a:ext cx="4297680" cy="822960"/>
          </a:xfrm>
          <a:prstGeom prst="roundRect">
            <a:avLst>
              <a:gd name="adj" fmla="val 5556"/>
            </a:avLst>
          </a:prstGeom>
          <a:solidFill>
            <a:srgbClr val="27CED7"/>
          </a:solidFill>
          <a:ln w="12700">
            <a:solidFill>
              <a:srgbClr val="27CE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840480" y="2432304"/>
            <a:ext cx="4297680" cy="2103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Integration / API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840480" y="2743200"/>
            <a:ext cx="429768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Focused collaboration checks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4640" y="3246120"/>
            <a:ext cx="6309360" cy="822960"/>
          </a:xfrm>
          <a:prstGeom prst="roundRect">
            <a:avLst>
              <a:gd name="adj" fmla="val 5556"/>
            </a:avLst>
          </a:prstGeom>
          <a:solidFill>
            <a:srgbClr val="2683C6"/>
          </a:solidFill>
          <a:ln w="12700">
            <a:solidFill>
              <a:srgbClr val="2683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834640" y="3392424"/>
            <a:ext cx="6309360" cy="2103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2834640" y="3703320"/>
            <a:ext cx="630936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Many, fast, isolated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77240" y="4617720"/>
            <a:ext cx="274320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335B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Example: checkout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777240" y="5029200"/>
            <a:ext cx="4206240" cy="914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263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Price formula → Unit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263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 persistence → Integration / API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263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completes purchase → End-to-end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0" y="4663440"/>
            <a:ext cx="4389120" cy="10515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/>
            <a:r>
              <a:rPr lang="en-US" sz="1500" b="1" dirty="0">
                <a:solidFill>
                  <a:srgbClr val="3E88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Quantity vs Quality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6">
            <a:extLst>
              <a:ext uri="{FF2B5EF4-FFF2-40B4-BE49-F238E27FC236}">
                <a16:creationId xmlns:a16="http://schemas.microsoft.com/office/drawing/2014/main" id="{D60AE687-FEE7-7E19-FF5A-D644EF5C106B}"/>
              </a:ext>
            </a:extLst>
          </p:cNvPr>
          <p:cNvSpPr/>
          <p:nvPr/>
        </p:nvSpPr>
        <p:spPr>
          <a:xfrm>
            <a:off x="5934634" y="1840006"/>
            <a:ext cx="4114800" cy="3326354"/>
          </a:xfrm>
          <a:prstGeom prst="roundRect">
            <a:avLst>
              <a:gd name="adj" fmla="val 1020"/>
            </a:avLst>
          </a:prstGeom>
          <a:solidFill>
            <a:srgbClr val="E8F7FA"/>
          </a:solidFill>
          <a:ln w="12700">
            <a:solidFill>
              <a:srgbClr val="D5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4">
            <a:extLst>
              <a:ext uri="{FF2B5EF4-FFF2-40B4-BE49-F238E27FC236}">
                <a16:creationId xmlns:a16="http://schemas.microsoft.com/office/drawing/2014/main" id="{712ED02F-E6E4-DD38-5011-C05F7CDBF02C}"/>
              </a:ext>
            </a:extLst>
          </p:cNvPr>
          <p:cNvSpPr/>
          <p:nvPr/>
        </p:nvSpPr>
        <p:spPr>
          <a:xfrm>
            <a:off x="655320" y="1950137"/>
            <a:ext cx="4114800" cy="3200400"/>
          </a:xfrm>
          <a:prstGeom prst="roundRect">
            <a:avLst>
              <a:gd name="adj" fmla="val 1010"/>
            </a:avLst>
          </a:prstGeom>
          <a:solidFill>
            <a:srgbClr val="EFF4F6"/>
          </a:solidFill>
          <a:ln w="12700">
            <a:solidFill>
              <a:srgbClr val="D5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A3BAE253-B753-D8D8-AB73-923F9235CB1C}"/>
              </a:ext>
            </a:extLst>
          </p:cNvPr>
          <p:cNvSpPr/>
          <p:nvPr/>
        </p:nvSpPr>
        <p:spPr>
          <a:xfrm>
            <a:off x="437476" y="709691"/>
            <a:ext cx="6943711" cy="3657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500" b="1" dirty="0">
                <a:solidFill>
                  <a:srgbClr val="335B74"/>
                </a:solidFill>
                <a:latin typeface="Aptos" pitchFamily="34" charset="0"/>
              </a:rPr>
              <a:t>What Makes a Good Automation Candidate?</a:t>
            </a:r>
          </a:p>
        </p:txBody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0A305BD6-68C3-B964-E795-D86D5458E98F}"/>
              </a:ext>
            </a:extLst>
          </p:cNvPr>
          <p:cNvSpPr/>
          <p:nvPr/>
        </p:nvSpPr>
        <p:spPr>
          <a:xfrm>
            <a:off x="1788422" y="1519674"/>
            <a:ext cx="3443454" cy="161051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dirty="0">
                <a:solidFill>
                  <a:srgbClr val="66737A"/>
                </a:solidFill>
                <a:latin typeface="Aptos" pitchFamily="34" charset="0"/>
              </a:rPr>
              <a:t>What? - Automation Candidate Selection</a:t>
            </a:r>
          </a:p>
          <a:p>
            <a:pPr marL="0" indent="0">
              <a:buNone/>
            </a:pPr>
            <a:endParaRPr lang="en-US" sz="900" dirty="0">
              <a:solidFill>
                <a:srgbClr val="000000"/>
              </a:solidFill>
            </a:endParaRPr>
          </a:p>
          <a:p>
            <a:pPr marL="0" indent="0">
              <a:buNone/>
            </a:pPr>
            <a:endParaRPr lang="en-US" sz="900" dirty="0"/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9C596983-17D4-7BC3-0FF6-2820DC73EE9D}"/>
              </a:ext>
            </a:extLst>
          </p:cNvPr>
          <p:cNvSpPr/>
          <p:nvPr/>
        </p:nvSpPr>
        <p:spPr>
          <a:xfrm>
            <a:off x="1191857" y="201168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buSzPct val="100000"/>
            </a:pPr>
            <a:r>
              <a:rPr lang="en-US" sz="1900" b="1" dirty="0">
                <a:solidFill>
                  <a:srgbClr val="335B74"/>
                </a:solidFill>
                <a:latin typeface="Aptos" pitchFamily="34" charset="0"/>
              </a:rPr>
              <a:t>Good Candidates</a:t>
            </a:r>
          </a:p>
          <a:p>
            <a:pPr>
              <a:buSzPct val="100000"/>
            </a:pP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2F3E4A"/>
                </a:solidFill>
              </a:rPr>
              <a:t>Repetitive activities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2F3E4A"/>
                </a:solidFill>
              </a:rPr>
              <a:t>Business-critical workflows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2F3E4A"/>
                </a:solidFill>
              </a:rPr>
              <a:t>Stable features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2F3E4A"/>
                </a:solidFill>
              </a:rPr>
              <a:t>Data-driven scenarios</a:t>
            </a:r>
            <a:endParaRPr lang="en-US" sz="1800" dirty="0"/>
          </a:p>
        </p:txBody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F4D4A39E-66E7-7A67-80E3-0E6666142AC4}"/>
              </a:ext>
            </a:extLst>
          </p:cNvPr>
          <p:cNvSpPr/>
          <p:nvPr/>
        </p:nvSpPr>
        <p:spPr>
          <a:xfrm>
            <a:off x="6507480" y="19659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buSzPct val="100000"/>
            </a:pPr>
            <a:r>
              <a:rPr lang="en-US" dirty="0">
                <a:solidFill>
                  <a:srgbClr val="2F3E4A"/>
                </a:solidFill>
              </a:rPr>
              <a:t>    </a:t>
            </a:r>
            <a:r>
              <a:rPr lang="en-US" sz="1900" b="1" dirty="0">
                <a:solidFill>
                  <a:srgbClr val="2683C6"/>
                </a:solidFill>
                <a:latin typeface="Aptos" pitchFamily="34" charset="0"/>
              </a:rPr>
              <a:t>Consider Carefully</a:t>
            </a:r>
          </a:p>
          <a:p>
            <a:pPr>
              <a:buSzPct val="100000"/>
            </a:pPr>
            <a:endParaRPr lang="en-US" sz="1800" dirty="0"/>
          </a:p>
          <a:p>
            <a:pPr>
              <a:lnSpc>
                <a:spcPct val="150000"/>
              </a:lnSpc>
              <a:buSzPct val="100000"/>
            </a:pPr>
            <a:r>
              <a:rPr lang="en-US" sz="1800" dirty="0">
                <a:solidFill>
                  <a:srgbClr val="2F3E4A"/>
                </a:solidFill>
              </a:rPr>
              <a:t>     •  Exploratory testing</a:t>
            </a:r>
            <a:endParaRPr lang="en-US" sz="1800" dirty="0"/>
          </a:p>
          <a:p>
            <a:pPr>
              <a:lnSpc>
                <a:spcPct val="150000"/>
              </a:lnSpc>
              <a:buSzPct val="100000"/>
            </a:pPr>
            <a:r>
              <a:rPr lang="en-US" sz="1800" dirty="0">
                <a:solidFill>
                  <a:srgbClr val="2F3E4A"/>
                </a:solidFill>
              </a:rPr>
              <a:t>     •  Rapidly changing features</a:t>
            </a:r>
            <a:endParaRPr lang="en-US" sz="1800" dirty="0"/>
          </a:p>
          <a:p>
            <a:pPr>
              <a:lnSpc>
                <a:spcPct val="150000"/>
              </a:lnSpc>
              <a:buSzPct val="100000"/>
            </a:pPr>
            <a:r>
              <a:rPr lang="en-US" sz="1800" dirty="0">
                <a:solidFill>
                  <a:srgbClr val="2F3E4A"/>
                </a:solidFill>
              </a:rPr>
              <a:t>     •  One-time validations</a:t>
            </a:r>
            <a:endParaRPr lang="en-US" sz="1800" dirty="0"/>
          </a:p>
          <a:p>
            <a:pPr>
              <a:lnSpc>
                <a:spcPct val="150000"/>
              </a:lnSpc>
              <a:buSzPct val="100000"/>
            </a:pPr>
            <a:r>
              <a:rPr lang="en-US" sz="1800" dirty="0">
                <a:solidFill>
                  <a:srgbClr val="2F3E4A"/>
                </a:solidFill>
              </a:rPr>
              <a:t>     •  Subjective visual checks</a:t>
            </a:r>
            <a:endParaRPr lang="en-US" sz="1800" dirty="0"/>
          </a:p>
        </p:txBody>
      </p:sp>
      <p:sp>
        <p:nvSpPr>
          <p:cNvPr id="6" name="Text 7">
            <a:extLst>
              <a:ext uri="{FF2B5EF4-FFF2-40B4-BE49-F238E27FC236}">
                <a16:creationId xmlns:a16="http://schemas.microsoft.com/office/drawing/2014/main" id="{45BAFE6A-BB7E-2639-7C9D-8C275BE516A3}"/>
              </a:ext>
            </a:extLst>
          </p:cNvPr>
          <p:cNvSpPr/>
          <p:nvPr/>
        </p:nvSpPr>
        <p:spPr>
          <a:xfrm>
            <a:off x="746760" y="56235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>
                <a:solidFill>
                  <a:srgbClr val="2F5573"/>
                </a:solidFill>
              </a:rPr>
              <a:t>Key Takeaway</a:t>
            </a:r>
            <a:endParaRPr lang="en-US" sz="1400" dirty="0"/>
          </a:p>
        </p:txBody>
      </p:sp>
      <p:sp>
        <p:nvSpPr>
          <p:cNvPr id="7" name="Text 8">
            <a:extLst>
              <a:ext uri="{FF2B5EF4-FFF2-40B4-BE49-F238E27FC236}">
                <a16:creationId xmlns:a16="http://schemas.microsoft.com/office/drawing/2014/main" id="{958E6762-3F28-9AF3-3721-113E0ED3AFB6}"/>
              </a:ext>
            </a:extLst>
          </p:cNvPr>
          <p:cNvSpPr/>
          <p:nvPr/>
        </p:nvSpPr>
        <p:spPr>
          <a:xfrm>
            <a:off x="2118360" y="55778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i="1" dirty="0">
                <a:solidFill>
                  <a:srgbClr val="000000"/>
                </a:solidFill>
              </a:rPr>
              <a:t>Focus on automating scenarios that provide repeatable business value.</a:t>
            </a:r>
            <a:endParaRPr lang="en-US" sz="1400" dirty="0"/>
          </a:p>
        </p:txBody>
      </p:sp>
      <p:sp>
        <p:nvSpPr>
          <p:cNvPr id="11" name="Shape 1">
            <a:extLst>
              <a:ext uri="{FF2B5EF4-FFF2-40B4-BE49-F238E27FC236}">
                <a16:creationId xmlns:a16="http://schemas.microsoft.com/office/drawing/2014/main" id="{E2154962-8FC6-341F-D63F-3463457AFCD2}"/>
              </a:ext>
            </a:extLst>
          </p:cNvPr>
          <p:cNvSpPr/>
          <p:nvPr/>
        </p:nvSpPr>
        <p:spPr>
          <a:xfrm>
            <a:off x="574638" y="1413107"/>
            <a:ext cx="1005840" cy="64008"/>
          </a:xfrm>
          <a:prstGeom prst="rect">
            <a:avLst/>
          </a:prstGeom>
          <a:solidFill>
            <a:srgbClr val="1CADE4"/>
          </a:solidFill>
          <a:ln w="12700">
            <a:solidFill>
              <a:srgbClr val="1CAD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0982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335B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Acceptance dashboard: from concept to evidence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749808"/>
            <a:ext cx="1005840" cy="64008"/>
          </a:xfrm>
          <a:prstGeom prst="rect">
            <a:avLst/>
          </a:prstGeom>
          <a:solidFill>
            <a:srgbClr val="1CADE4"/>
          </a:solidFill>
          <a:ln w="12700">
            <a:solidFill>
              <a:srgbClr val="1CAD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645920" y="667512"/>
            <a:ext cx="987552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673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 benefits with baselines, trends, and responsible interpretation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960120"/>
            <a:ext cx="1051560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26B0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SAMPLE DATA — replace with project evidence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85800" y="1325880"/>
            <a:ext cx="2514600" cy="1234440"/>
          </a:xfrm>
          <a:prstGeom prst="roundRect">
            <a:avLst>
              <a:gd name="adj" fmla="val 3704"/>
            </a:avLst>
          </a:prstGeom>
          <a:solidFill>
            <a:srgbClr val="26343B"/>
          </a:solidFill>
          <a:ln w="12700">
            <a:solidFill>
              <a:srgbClr val="3E88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95528" y="1508760"/>
            <a:ext cx="228600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 SAVED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95528" y="1783080"/>
            <a:ext cx="228600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E88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55%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95528" y="2194560"/>
            <a:ext cx="228600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 baseline vs. automated effort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474720" y="1325880"/>
            <a:ext cx="2514600" cy="1234440"/>
          </a:xfrm>
          <a:prstGeom prst="roundRect">
            <a:avLst>
              <a:gd name="adj" fmla="val 3704"/>
            </a:avLst>
          </a:prstGeom>
          <a:solidFill>
            <a:srgbClr val="26343B"/>
          </a:solidFill>
          <a:ln w="12700">
            <a:solidFill>
              <a:srgbClr val="2683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584448" y="1508760"/>
            <a:ext cx="228600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EXECUTION SPEEDUP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584448" y="1783080"/>
            <a:ext cx="228600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683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12×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584448" y="2194560"/>
            <a:ext cx="228600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 time / automated time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263640" y="1325880"/>
            <a:ext cx="2514600" cy="1234440"/>
          </a:xfrm>
          <a:prstGeom prst="roundRect">
            <a:avLst>
              <a:gd name="adj" fmla="val 3704"/>
            </a:avLst>
          </a:prstGeom>
          <a:solidFill>
            <a:srgbClr val="26343B"/>
          </a:solidFill>
          <a:ln w="12700">
            <a:solidFill>
              <a:srgbClr val="27CE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373368" y="1508760"/>
            <a:ext cx="228600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FLAKINESS REDUCTION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73368" y="1783080"/>
            <a:ext cx="228600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7CE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−85%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373368" y="2194560"/>
            <a:ext cx="228600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Intermittent failures over reruns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9052560" y="1325880"/>
            <a:ext cx="2514600" cy="1234440"/>
          </a:xfrm>
          <a:prstGeom prst="roundRect">
            <a:avLst>
              <a:gd name="adj" fmla="val 3704"/>
            </a:avLst>
          </a:prstGeom>
          <a:solidFill>
            <a:srgbClr val="26343B"/>
          </a:solidFill>
          <a:ln w="12700">
            <a:solidFill>
              <a:srgbClr val="B26B0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162288" y="1508760"/>
            <a:ext cx="228600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NET HOURS RECLAIMED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162288" y="1783080"/>
            <a:ext cx="228600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B26B0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9162288" y="2194560"/>
            <a:ext cx="228600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Savings minus maintenance effort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85800" y="2834640"/>
            <a:ext cx="5486400" cy="2423160"/>
          </a:xfrm>
          <a:prstGeom prst="roundRect">
            <a:avLst>
              <a:gd name="adj" fmla="val 1887"/>
            </a:avLst>
          </a:prstGeom>
          <a:solidFill>
            <a:srgbClr val="EFF4F6"/>
          </a:solidFill>
          <a:ln w="12700">
            <a:solidFill>
              <a:srgbClr val="D5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60120" y="3063240"/>
            <a:ext cx="493776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35B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EFFICIENCY GAINS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960120" y="3401568"/>
            <a:ext cx="493776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6673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Creation time  |  Execution time  |  Maintenance time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234440" y="3803904"/>
            <a:ext cx="868680" cy="1042416"/>
          </a:xfrm>
          <a:prstGeom prst="roundRect">
            <a:avLst>
              <a:gd name="adj" fmla="val 5263"/>
            </a:avLst>
          </a:prstGeom>
          <a:solidFill>
            <a:srgbClr val="2683C6"/>
          </a:solidFill>
          <a:ln w="12700">
            <a:solidFill>
              <a:srgbClr val="2683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143000" y="4937760"/>
            <a:ext cx="105156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263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788920" y="4105656"/>
            <a:ext cx="868680" cy="740664"/>
          </a:xfrm>
          <a:prstGeom prst="roundRect">
            <a:avLst>
              <a:gd name="adj" fmla="val 6173"/>
            </a:avLst>
          </a:prstGeom>
          <a:solidFill>
            <a:srgbClr val="B26B02"/>
          </a:solidFill>
          <a:ln w="12700">
            <a:solidFill>
              <a:srgbClr val="B26B0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697480" y="4937760"/>
            <a:ext cx="105156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263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Automation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343400" y="4352544"/>
            <a:ext cx="868680" cy="493776"/>
          </a:xfrm>
          <a:prstGeom prst="roundRect">
            <a:avLst>
              <a:gd name="adj" fmla="val 9259"/>
            </a:avLst>
          </a:prstGeom>
          <a:solidFill>
            <a:srgbClr val="3E8853"/>
          </a:solidFill>
          <a:ln w="12700">
            <a:solidFill>
              <a:srgbClr val="3E88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251960" y="4937760"/>
            <a:ext cx="105156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263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Automation + AI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400800" y="2834640"/>
            <a:ext cx="4800600" cy="2423160"/>
          </a:xfrm>
          <a:prstGeom prst="roundRect">
            <a:avLst>
              <a:gd name="adj" fmla="val 1887"/>
            </a:avLst>
          </a:prstGeom>
          <a:solidFill>
            <a:srgbClr val="E8F7FA"/>
          </a:solidFill>
          <a:ln w="12700">
            <a:solidFill>
              <a:srgbClr val="D5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675120" y="3063240"/>
            <a:ext cx="425196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35B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RELIABILITY &amp; MAINTENANCE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6720840" y="3520440"/>
            <a:ext cx="283464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63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success rate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738360" y="3520440"/>
            <a:ext cx="105156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3E88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89%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720840" y="3904488"/>
            <a:ext cx="283464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63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False-positive reduction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9738360" y="3904488"/>
            <a:ext cx="105156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683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720840" y="4288536"/>
            <a:ext cx="283464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63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Weekly maintenance hours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9738360" y="4288536"/>
            <a:ext cx="105156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683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Trend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720840" y="4672584"/>
            <a:ext cx="283464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63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adoption / confidence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9738360" y="4672584"/>
            <a:ext cx="105156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683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22960" y="5806440"/>
            <a:ext cx="1033272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35B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Metric rule: baseline → comparable runs → classified failures → decision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5F3F18-A0A5-6B1A-1E8C-15C2DE806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6">
            <a:extLst>
              <a:ext uri="{FF2B5EF4-FFF2-40B4-BE49-F238E27FC236}">
                <a16:creationId xmlns:a16="http://schemas.microsoft.com/office/drawing/2014/main" id="{0088D454-0E07-D9E6-7381-81F9AA28AF10}"/>
              </a:ext>
            </a:extLst>
          </p:cNvPr>
          <p:cNvSpPr/>
          <p:nvPr/>
        </p:nvSpPr>
        <p:spPr>
          <a:xfrm>
            <a:off x="6265430" y="1652130"/>
            <a:ext cx="3461276" cy="2229452"/>
          </a:xfrm>
          <a:prstGeom prst="roundRect">
            <a:avLst>
              <a:gd name="adj" fmla="val 1020"/>
            </a:avLst>
          </a:prstGeom>
          <a:solidFill>
            <a:srgbClr val="E8F7FA"/>
          </a:solidFill>
          <a:ln w="12700">
            <a:solidFill>
              <a:srgbClr val="D5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4">
            <a:extLst>
              <a:ext uri="{FF2B5EF4-FFF2-40B4-BE49-F238E27FC236}">
                <a16:creationId xmlns:a16="http://schemas.microsoft.com/office/drawing/2014/main" id="{95EAE992-7208-FE94-02BF-96E48A47F46C}"/>
              </a:ext>
            </a:extLst>
          </p:cNvPr>
          <p:cNvSpPr/>
          <p:nvPr/>
        </p:nvSpPr>
        <p:spPr>
          <a:xfrm>
            <a:off x="1255507" y="1653497"/>
            <a:ext cx="3542851" cy="2228086"/>
          </a:xfrm>
          <a:prstGeom prst="roundRect">
            <a:avLst>
              <a:gd name="adj" fmla="val 1010"/>
            </a:avLst>
          </a:prstGeom>
          <a:solidFill>
            <a:srgbClr val="EFF4F6"/>
          </a:solidFill>
          <a:ln w="12700">
            <a:solidFill>
              <a:srgbClr val="D5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4F2924D3-0EF0-AB0F-CF0B-E0348A96CE4F}"/>
              </a:ext>
            </a:extLst>
          </p:cNvPr>
          <p:cNvSpPr/>
          <p:nvPr/>
        </p:nvSpPr>
        <p:spPr>
          <a:xfrm>
            <a:off x="518159" y="666057"/>
            <a:ext cx="5577841" cy="46062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500" b="1" dirty="0">
                <a:solidFill>
                  <a:srgbClr val="335B74"/>
                </a:solidFill>
                <a:latin typeface="Aptos" pitchFamily="34" charset="0"/>
              </a:rPr>
              <a:t>Automation Standards &amp; Baselines</a:t>
            </a:r>
          </a:p>
        </p:txBody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C6E0D2BD-8117-666E-C579-D2154B89BF86}"/>
              </a:ext>
            </a:extLst>
          </p:cNvPr>
          <p:cNvSpPr/>
          <p:nvPr/>
        </p:nvSpPr>
        <p:spPr>
          <a:xfrm>
            <a:off x="1610506" y="1306469"/>
            <a:ext cx="4288270" cy="235057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>
                <a:solidFill>
                  <a:srgbClr val="66737A"/>
                </a:solidFill>
                <a:latin typeface="Aptos" pitchFamily="34" charset="0"/>
              </a:rPr>
              <a:t>Pillars : Automation Success Fundamentals</a:t>
            </a:r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13C35FA9-0DD5-059C-A266-99C52138E9F1}"/>
              </a:ext>
            </a:extLst>
          </p:cNvPr>
          <p:cNvSpPr/>
          <p:nvPr/>
        </p:nvSpPr>
        <p:spPr>
          <a:xfrm>
            <a:off x="1823419" y="1564386"/>
            <a:ext cx="3035451" cy="2230463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buSzPct val="100000"/>
            </a:pPr>
            <a:r>
              <a:rPr lang="en-US" sz="1900" b="1" dirty="0">
                <a:solidFill>
                  <a:srgbClr val="335B74"/>
                </a:solidFill>
                <a:latin typeface="Aptos" pitchFamily="34" charset="0"/>
              </a:rPr>
              <a:t>Test Selection</a:t>
            </a:r>
          </a:p>
          <a:p>
            <a:pPr>
              <a:lnSpc>
                <a:spcPct val="90000"/>
              </a:lnSpc>
              <a:buSzPct val="100000"/>
            </a:pP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F3E4A"/>
                </a:solidFill>
              </a:rPr>
              <a:t>What to automate</a:t>
            </a:r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F3E4A"/>
                </a:solidFill>
              </a:rPr>
              <a:t>Prioritization criteria</a:t>
            </a:r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F3E4A"/>
                </a:solidFill>
              </a:rPr>
              <a:t>Business value</a:t>
            </a:r>
            <a:endParaRPr lang="en-US" sz="1800" dirty="0"/>
          </a:p>
        </p:txBody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F435CFDF-6C1F-AB9D-3658-F01D19A5E1BE}"/>
              </a:ext>
            </a:extLst>
          </p:cNvPr>
          <p:cNvSpPr/>
          <p:nvPr/>
        </p:nvSpPr>
        <p:spPr>
          <a:xfrm>
            <a:off x="6507480" y="1845128"/>
            <a:ext cx="3219226" cy="184345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buSzPct val="100000"/>
            </a:pPr>
            <a:r>
              <a:rPr lang="en-US" dirty="0">
                <a:solidFill>
                  <a:srgbClr val="2F3E4A"/>
                </a:solidFill>
              </a:rPr>
              <a:t>    </a:t>
            </a:r>
            <a:r>
              <a:rPr lang="en-US" sz="1900" b="1" dirty="0">
                <a:solidFill>
                  <a:srgbClr val="2683C6"/>
                </a:solidFill>
                <a:latin typeface="Aptos" pitchFamily="34" charset="0"/>
              </a:rPr>
              <a:t>Engineering Standards</a:t>
            </a:r>
          </a:p>
          <a:p>
            <a:pPr>
              <a:buSzPct val="100000"/>
            </a:pPr>
            <a:endParaRPr lang="en-US" sz="1800" dirty="0"/>
          </a:p>
          <a:p>
            <a:pPr>
              <a:buSzPct val="100000"/>
            </a:pPr>
            <a:r>
              <a:rPr lang="en-US" sz="1800" dirty="0">
                <a:solidFill>
                  <a:srgbClr val="2F3E4A"/>
                </a:solidFill>
              </a:rPr>
              <a:t>     •  </a:t>
            </a:r>
            <a:r>
              <a:rPr lang="en-US" dirty="0">
                <a:solidFill>
                  <a:srgbClr val="2F3E4A"/>
                </a:solidFill>
              </a:rPr>
              <a:t>C</a:t>
            </a:r>
            <a:r>
              <a:rPr lang="en-US" sz="1800" dirty="0">
                <a:solidFill>
                  <a:srgbClr val="2F3E4A"/>
                </a:solidFill>
              </a:rPr>
              <a:t>onventions</a:t>
            </a:r>
          </a:p>
          <a:p>
            <a:pPr>
              <a:buSzPct val="100000"/>
            </a:pPr>
            <a:r>
              <a:rPr lang="en-US" dirty="0">
                <a:solidFill>
                  <a:srgbClr val="2F3E4A"/>
                </a:solidFill>
              </a:rPr>
              <a:t>     •  Project </a:t>
            </a:r>
            <a:r>
              <a:rPr lang="en-US" sz="1800" dirty="0">
                <a:solidFill>
                  <a:srgbClr val="2F3E4A"/>
                </a:solidFill>
              </a:rPr>
              <a:t>structure</a:t>
            </a:r>
          </a:p>
          <a:p>
            <a:pPr>
              <a:buSzPct val="100000"/>
            </a:pPr>
            <a:r>
              <a:rPr lang="en-US" dirty="0">
                <a:solidFill>
                  <a:srgbClr val="2F3E4A"/>
                </a:solidFill>
              </a:rPr>
              <a:t>     •  Code </a:t>
            </a:r>
            <a:r>
              <a:rPr lang="en-US" sz="1800" dirty="0">
                <a:solidFill>
                  <a:srgbClr val="2F3E4A"/>
                </a:solidFill>
              </a:rPr>
              <a:t>review criteria</a:t>
            </a:r>
            <a:endParaRPr lang="en-US" sz="1800" dirty="0"/>
          </a:p>
        </p:txBody>
      </p:sp>
      <p:sp>
        <p:nvSpPr>
          <p:cNvPr id="6" name="Text 7">
            <a:extLst>
              <a:ext uri="{FF2B5EF4-FFF2-40B4-BE49-F238E27FC236}">
                <a16:creationId xmlns:a16="http://schemas.microsoft.com/office/drawing/2014/main" id="{423EBB6A-8D1C-B48B-206C-F9B8BD8E74EE}"/>
              </a:ext>
            </a:extLst>
          </p:cNvPr>
          <p:cNvSpPr/>
          <p:nvPr/>
        </p:nvSpPr>
        <p:spPr>
          <a:xfrm>
            <a:off x="746760" y="657650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>
                <a:solidFill>
                  <a:srgbClr val="2F5573"/>
                </a:solidFill>
              </a:rPr>
              <a:t>Key Takeaway</a:t>
            </a:r>
            <a:endParaRPr lang="en-US" sz="1400" dirty="0"/>
          </a:p>
        </p:txBody>
      </p:sp>
      <p:sp>
        <p:nvSpPr>
          <p:cNvPr id="7" name="Text 8">
            <a:extLst>
              <a:ext uri="{FF2B5EF4-FFF2-40B4-BE49-F238E27FC236}">
                <a16:creationId xmlns:a16="http://schemas.microsoft.com/office/drawing/2014/main" id="{A7F6C0A6-DE52-4BA8-3BC1-EB099B320BEF}"/>
              </a:ext>
            </a:extLst>
          </p:cNvPr>
          <p:cNvSpPr/>
          <p:nvPr/>
        </p:nvSpPr>
        <p:spPr>
          <a:xfrm>
            <a:off x="2118360" y="653078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i="1" dirty="0">
                <a:solidFill>
                  <a:srgbClr val="000000"/>
                </a:solidFill>
              </a:rPr>
              <a:t>Establishing clear baselines early reduces technical debt and creates a sustainable automation framework..</a:t>
            </a:r>
            <a:endParaRPr lang="en-US" sz="1400" dirty="0"/>
          </a:p>
        </p:txBody>
      </p:sp>
      <p:sp>
        <p:nvSpPr>
          <p:cNvPr id="11" name="Shape 1">
            <a:extLst>
              <a:ext uri="{FF2B5EF4-FFF2-40B4-BE49-F238E27FC236}">
                <a16:creationId xmlns:a16="http://schemas.microsoft.com/office/drawing/2014/main" id="{44E9DBC5-BDD5-97B1-879A-E30FB11D4C13}"/>
              </a:ext>
            </a:extLst>
          </p:cNvPr>
          <p:cNvSpPr/>
          <p:nvPr/>
        </p:nvSpPr>
        <p:spPr>
          <a:xfrm>
            <a:off x="574638" y="1413107"/>
            <a:ext cx="1005840" cy="64008"/>
          </a:xfrm>
          <a:prstGeom prst="rect">
            <a:avLst/>
          </a:prstGeom>
          <a:solidFill>
            <a:srgbClr val="1CADE4"/>
          </a:solidFill>
          <a:ln w="12700">
            <a:solidFill>
              <a:srgbClr val="1CAD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4">
            <a:extLst>
              <a:ext uri="{FF2B5EF4-FFF2-40B4-BE49-F238E27FC236}">
                <a16:creationId xmlns:a16="http://schemas.microsoft.com/office/drawing/2014/main" id="{A778CCBF-1F44-A0A7-F949-AEA049585F7E}"/>
              </a:ext>
            </a:extLst>
          </p:cNvPr>
          <p:cNvSpPr/>
          <p:nvPr/>
        </p:nvSpPr>
        <p:spPr>
          <a:xfrm>
            <a:off x="1255505" y="4194742"/>
            <a:ext cx="3603365" cy="2095344"/>
          </a:xfrm>
          <a:prstGeom prst="roundRect">
            <a:avLst>
              <a:gd name="adj" fmla="val 1010"/>
            </a:avLst>
          </a:prstGeom>
          <a:solidFill>
            <a:srgbClr val="EFF4F6"/>
          </a:solidFill>
          <a:ln w="12700">
            <a:solidFill>
              <a:srgbClr val="D5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D22D7DFC-5A1D-7EDE-5715-265C8A18A7D5}"/>
              </a:ext>
            </a:extLst>
          </p:cNvPr>
          <p:cNvSpPr/>
          <p:nvPr/>
        </p:nvSpPr>
        <p:spPr>
          <a:xfrm>
            <a:off x="1823419" y="4040998"/>
            <a:ext cx="3689870" cy="2150945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buSzPct val="100000"/>
            </a:pPr>
            <a:r>
              <a:rPr lang="en-US" sz="1900" b="1" dirty="0">
                <a:solidFill>
                  <a:srgbClr val="335B74"/>
                </a:solidFill>
                <a:latin typeface="Aptos" pitchFamily="34" charset="0"/>
              </a:rPr>
              <a:t>Coverage Strategy</a:t>
            </a:r>
          </a:p>
          <a:p>
            <a:pPr>
              <a:lnSpc>
                <a:spcPct val="90000"/>
              </a:lnSpc>
              <a:buSzPct val="100000"/>
            </a:pP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F3E4A"/>
                </a:solidFill>
              </a:rPr>
              <a:t>Scope definition</a:t>
            </a:r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F3E4A"/>
                </a:solidFill>
              </a:rPr>
              <a:t>Risk coverage</a:t>
            </a:r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F3E4A"/>
                </a:solidFill>
              </a:rPr>
              <a:t>Progress tracking</a:t>
            </a:r>
            <a:endParaRPr lang="en-US" sz="1800" dirty="0"/>
          </a:p>
        </p:txBody>
      </p:sp>
      <p:sp>
        <p:nvSpPr>
          <p:cNvPr id="18" name="Shape 6">
            <a:extLst>
              <a:ext uri="{FF2B5EF4-FFF2-40B4-BE49-F238E27FC236}">
                <a16:creationId xmlns:a16="http://schemas.microsoft.com/office/drawing/2014/main" id="{58A55E12-D38A-45AA-DD10-174D015B1E9A}"/>
              </a:ext>
            </a:extLst>
          </p:cNvPr>
          <p:cNvSpPr/>
          <p:nvPr/>
        </p:nvSpPr>
        <p:spPr>
          <a:xfrm>
            <a:off x="6265430" y="4148261"/>
            <a:ext cx="3461276" cy="2229452"/>
          </a:xfrm>
          <a:prstGeom prst="roundRect">
            <a:avLst>
              <a:gd name="adj" fmla="val 1020"/>
            </a:avLst>
          </a:prstGeom>
          <a:solidFill>
            <a:srgbClr val="E8F7FA"/>
          </a:solidFill>
          <a:ln w="12700">
            <a:solidFill>
              <a:srgbClr val="D5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6">
            <a:extLst>
              <a:ext uri="{FF2B5EF4-FFF2-40B4-BE49-F238E27FC236}">
                <a16:creationId xmlns:a16="http://schemas.microsoft.com/office/drawing/2014/main" id="{179D9D20-DE02-29EB-FB19-820453FA2A93}"/>
              </a:ext>
            </a:extLst>
          </p:cNvPr>
          <p:cNvSpPr/>
          <p:nvPr/>
        </p:nvSpPr>
        <p:spPr>
          <a:xfrm>
            <a:off x="6507480" y="4194742"/>
            <a:ext cx="3219226" cy="184345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buSzPct val="100000"/>
            </a:pPr>
            <a:r>
              <a:rPr lang="en-US" dirty="0">
                <a:solidFill>
                  <a:srgbClr val="2F3E4A"/>
                </a:solidFill>
              </a:rPr>
              <a:t>    </a:t>
            </a:r>
            <a:r>
              <a:rPr lang="en-US" sz="1900" b="1" dirty="0">
                <a:solidFill>
                  <a:srgbClr val="2683C6"/>
                </a:solidFill>
                <a:latin typeface="Aptos" pitchFamily="34" charset="0"/>
              </a:rPr>
              <a:t>Execution &amp; Reporting</a:t>
            </a:r>
          </a:p>
          <a:p>
            <a:pPr>
              <a:lnSpc>
                <a:spcPct val="90000"/>
              </a:lnSpc>
              <a:buSzPct val="100000"/>
            </a:pPr>
            <a:endParaRPr lang="en-US" sz="1800" dirty="0"/>
          </a:p>
          <a:p>
            <a:pPr>
              <a:buSzPct val="100000"/>
            </a:pPr>
            <a:r>
              <a:rPr lang="en-US" sz="1800" dirty="0">
                <a:solidFill>
                  <a:srgbClr val="2F3E4A"/>
                </a:solidFill>
              </a:rPr>
              <a:t>     •  Execution model</a:t>
            </a:r>
          </a:p>
          <a:p>
            <a:pPr>
              <a:buSzPct val="100000"/>
            </a:pPr>
            <a:r>
              <a:rPr lang="en-US" dirty="0">
                <a:solidFill>
                  <a:srgbClr val="2F3E4A"/>
                </a:solidFill>
              </a:rPr>
              <a:t>     •  Reporting </a:t>
            </a:r>
            <a:r>
              <a:rPr lang="en-US" sz="1800" dirty="0">
                <a:solidFill>
                  <a:srgbClr val="2F3E4A"/>
                </a:solidFill>
              </a:rPr>
              <a:t>standards</a:t>
            </a:r>
          </a:p>
          <a:p>
            <a:pPr>
              <a:buSzPct val="100000"/>
            </a:pPr>
            <a:r>
              <a:rPr lang="en-US" dirty="0">
                <a:solidFill>
                  <a:srgbClr val="2F3E4A"/>
                </a:solidFill>
              </a:rPr>
              <a:t>     •   CI</a:t>
            </a:r>
            <a:r>
              <a:rPr lang="en-US" sz="1800" dirty="0">
                <a:solidFill>
                  <a:srgbClr val="2F3E4A"/>
                </a:solidFill>
              </a:rPr>
              <a:t>/CD integration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9023118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8C2F8B-2A9F-AF94-D9F6-E87698AD9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1CDF68C-C359-1204-03E5-77B09625DCCB}"/>
              </a:ext>
            </a:extLst>
          </p:cNvPr>
          <p:cNvSpPr/>
          <p:nvPr/>
        </p:nvSpPr>
        <p:spPr>
          <a:xfrm>
            <a:off x="518159" y="666057"/>
            <a:ext cx="5577841" cy="46062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500" b="1" dirty="0">
                <a:solidFill>
                  <a:srgbClr val="335B74"/>
                </a:solidFill>
                <a:latin typeface="Aptos" pitchFamily="34" charset="0"/>
              </a:rPr>
              <a:t>Architectural Design Principles</a:t>
            </a:r>
          </a:p>
        </p:txBody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39B8D6F6-1FA6-D0F9-0073-9251886F2B18}"/>
              </a:ext>
            </a:extLst>
          </p:cNvPr>
          <p:cNvSpPr/>
          <p:nvPr/>
        </p:nvSpPr>
        <p:spPr>
          <a:xfrm>
            <a:off x="1610505" y="1294694"/>
            <a:ext cx="5157847" cy="290299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>
                <a:solidFill>
                  <a:srgbClr val="66737A"/>
                </a:solidFill>
                <a:latin typeface="Aptos" pitchFamily="34" charset="0"/>
              </a:rPr>
              <a:t>Governance: Building maintainable, scalable, and deterministic test automation frameworks.</a:t>
            </a:r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5234B93E-5197-C616-2364-F02193C49210}"/>
              </a:ext>
            </a:extLst>
          </p:cNvPr>
          <p:cNvSpPr/>
          <p:nvPr/>
        </p:nvSpPr>
        <p:spPr>
          <a:xfrm>
            <a:off x="1823419" y="1564386"/>
            <a:ext cx="3035451" cy="2230463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buSzPct val="100000"/>
            </a:pPr>
            <a:endParaRPr lang="en-US" sz="1800" dirty="0"/>
          </a:p>
        </p:txBody>
      </p:sp>
      <p:sp>
        <p:nvSpPr>
          <p:cNvPr id="11" name="Shape 1">
            <a:extLst>
              <a:ext uri="{FF2B5EF4-FFF2-40B4-BE49-F238E27FC236}">
                <a16:creationId xmlns:a16="http://schemas.microsoft.com/office/drawing/2014/main" id="{3DB59E7C-C9E6-3457-4119-D5E4492071F4}"/>
              </a:ext>
            </a:extLst>
          </p:cNvPr>
          <p:cNvSpPr/>
          <p:nvPr/>
        </p:nvSpPr>
        <p:spPr>
          <a:xfrm>
            <a:off x="574638" y="1413107"/>
            <a:ext cx="1005840" cy="64008"/>
          </a:xfrm>
          <a:prstGeom prst="rect">
            <a:avLst/>
          </a:prstGeom>
          <a:solidFill>
            <a:srgbClr val="1CADE4"/>
          </a:solidFill>
          <a:ln w="12700">
            <a:solidFill>
              <a:srgbClr val="1CAD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1D45E136-4A10-4CB7-8E4A-4F440B9495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0992" y="1854685"/>
            <a:ext cx="9171428" cy="4066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45584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8FA688-6558-3AAA-7FB4-004A1CB79E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2E8F9F7-6636-3DE9-5F8C-8B0F22ED6E10}"/>
              </a:ext>
            </a:extLst>
          </p:cNvPr>
          <p:cNvSpPr/>
          <p:nvPr/>
        </p:nvSpPr>
        <p:spPr>
          <a:xfrm>
            <a:off x="518159" y="666057"/>
            <a:ext cx="5577841" cy="46062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500" b="1" dirty="0">
                <a:solidFill>
                  <a:srgbClr val="335B74"/>
                </a:solidFill>
                <a:latin typeface="Aptos" pitchFamily="34" charset="0"/>
              </a:rPr>
              <a:t>Architectural Design Principles</a:t>
            </a:r>
          </a:p>
        </p:txBody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33C50095-8735-909F-107A-768088D7FEFD}"/>
              </a:ext>
            </a:extLst>
          </p:cNvPr>
          <p:cNvSpPr/>
          <p:nvPr/>
        </p:nvSpPr>
        <p:spPr>
          <a:xfrm>
            <a:off x="1610505" y="1294694"/>
            <a:ext cx="5157847" cy="290299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>
                <a:solidFill>
                  <a:srgbClr val="66737A"/>
                </a:solidFill>
                <a:latin typeface="Aptos" pitchFamily="34" charset="0"/>
              </a:rPr>
              <a:t>Governance: Building maintainable, scalable, and deterministic test automation frameworks.</a:t>
            </a:r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7790A649-3612-6C69-A825-B60504920C8A}"/>
              </a:ext>
            </a:extLst>
          </p:cNvPr>
          <p:cNvSpPr/>
          <p:nvPr/>
        </p:nvSpPr>
        <p:spPr>
          <a:xfrm>
            <a:off x="1823419" y="1564386"/>
            <a:ext cx="3035451" cy="2230463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buSzPct val="100000"/>
            </a:pPr>
            <a:endParaRPr lang="en-US" sz="1800" dirty="0"/>
          </a:p>
        </p:txBody>
      </p:sp>
      <p:sp>
        <p:nvSpPr>
          <p:cNvPr id="11" name="Shape 1">
            <a:extLst>
              <a:ext uri="{FF2B5EF4-FFF2-40B4-BE49-F238E27FC236}">
                <a16:creationId xmlns:a16="http://schemas.microsoft.com/office/drawing/2014/main" id="{F06BADA7-E114-BCAD-5680-9F0D34D7A62E}"/>
              </a:ext>
            </a:extLst>
          </p:cNvPr>
          <p:cNvSpPr/>
          <p:nvPr/>
        </p:nvSpPr>
        <p:spPr>
          <a:xfrm>
            <a:off x="574638" y="1413107"/>
            <a:ext cx="1005840" cy="64008"/>
          </a:xfrm>
          <a:prstGeom prst="rect">
            <a:avLst/>
          </a:prstGeom>
          <a:solidFill>
            <a:srgbClr val="1CADE4"/>
          </a:solidFill>
          <a:ln w="12700">
            <a:solidFill>
              <a:srgbClr val="1CAD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44E3AF1-675A-3C30-6066-BE953C8595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162" y="2145348"/>
            <a:ext cx="9190476" cy="4180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98940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E04DD9-6F9C-18DE-8F98-0DF4C39B7A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E87CF3A-BBA5-D128-64C0-737DE3606B6B}"/>
              </a:ext>
            </a:extLst>
          </p:cNvPr>
          <p:cNvSpPr/>
          <p:nvPr/>
        </p:nvSpPr>
        <p:spPr>
          <a:xfrm>
            <a:off x="518159" y="666057"/>
            <a:ext cx="5577841" cy="46062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500" b="1" dirty="0">
                <a:solidFill>
                  <a:srgbClr val="335B74"/>
                </a:solidFill>
                <a:latin typeface="Aptos" pitchFamily="34" charset="0"/>
              </a:rPr>
              <a:t>Architectural Design Principles</a:t>
            </a:r>
          </a:p>
        </p:txBody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EC88B11A-F27D-1B42-308E-AB245F2211D4}"/>
              </a:ext>
            </a:extLst>
          </p:cNvPr>
          <p:cNvSpPr/>
          <p:nvPr/>
        </p:nvSpPr>
        <p:spPr>
          <a:xfrm>
            <a:off x="1610505" y="1294694"/>
            <a:ext cx="5157847" cy="290299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>
                <a:solidFill>
                  <a:srgbClr val="66737A"/>
                </a:solidFill>
                <a:latin typeface="Aptos" pitchFamily="34" charset="0"/>
              </a:rPr>
              <a:t>Governance: Building maintainable, scalable, and deterministic test automation frameworks.</a:t>
            </a:r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4D071EEA-BBEC-A81C-1A5E-44ADBBA5DAF8}"/>
              </a:ext>
            </a:extLst>
          </p:cNvPr>
          <p:cNvSpPr/>
          <p:nvPr/>
        </p:nvSpPr>
        <p:spPr>
          <a:xfrm>
            <a:off x="1823419" y="1564386"/>
            <a:ext cx="3035451" cy="2230463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buSzPct val="100000"/>
            </a:pPr>
            <a:endParaRPr lang="en-US" sz="1800" dirty="0"/>
          </a:p>
        </p:txBody>
      </p:sp>
      <p:sp>
        <p:nvSpPr>
          <p:cNvPr id="11" name="Shape 1">
            <a:extLst>
              <a:ext uri="{FF2B5EF4-FFF2-40B4-BE49-F238E27FC236}">
                <a16:creationId xmlns:a16="http://schemas.microsoft.com/office/drawing/2014/main" id="{B89440FA-143B-D6AA-10E7-51A43AA64237}"/>
              </a:ext>
            </a:extLst>
          </p:cNvPr>
          <p:cNvSpPr/>
          <p:nvPr/>
        </p:nvSpPr>
        <p:spPr>
          <a:xfrm>
            <a:off x="574638" y="1413107"/>
            <a:ext cx="1005840" cy="64008"/>
          </a:xfrm>
          <a:prstGeom prst="rect">
            <a:avLst/>
          </a:prstGeom>
          <a:solidFill>
            <a:srgbClr val="1CADE4"/>
          </a:solidFill>
          <a:ln w="12700">
            <a:solidFill>
              <a:srgbClr val="1CAD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010BB17-C3C9-7B1F-4162-9DE241DC52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558" y="1871415"/>
            <a:ext cx="9161905" cy="40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53491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B40795-5E13-DE76-B4F7-A727FDF21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BA3FA61-DC1D-B641-810A-89F8C045EE00}"/>
              </a:ext>
            </a:extLst>
          </p:cNvPr>
          <p:cNvSpPr/>
          <p:nvPr/>
        </p:nvSpPr>
        <p:spPr>
          <a:xfrm>
            <a:off x="518159" y="666057"/>
            <a:ext cx="5577841" cy="46062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500" b="1" dirty="0">
                <a:solidFill>
                  <a:srgbClr val="335B74"/>
                </a:solidFill>
                <a:latin typeface="Aptos" pitchFamily="34" charset="0"/>
              </a:rPr>
              <a:t>Architectural Design Principles</a:t>
            </a:r>
          </a:p>
        </p:txBody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6D8ED2F7-FE60-AEE1-953D-E959FAC99B20}"/>
              </a:ext>
            </a:extLst>
          </p:cNvPr>
          <p:cNvSpPr/>
          <p:nvPr/>
        </p:nvSpPr>
        <p:spPr>
          <a:xfrm>
            <a:off x="1610505" y="1294694"/>
            <a:ext cx="5157847" cy="290299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>
                <a:solidFill>
                  <a:srgbClr val="66737A"/>
                </a:solidFill>
                <a:latin typeface="Aptos" pitchFamily="34" charset="0"/>
              </a:rPr>
              <a:t>Governance: Building maintainable, scalable, and deterministic test automation frameworks.</a:t>
            </a:r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7CF4280A-62D1-8023-3FF0-72AEAB53E544}"/>
              </a:ext>
            </a:extLst>
          </p:cNvPr>
          <p:cNvSpPr/>
          <p:nvPr/>
        </p:nvSpPr>
        <p:spPr>
          <a:xfrm>
            <a:off x="1823419" y="1564386"/>
            <a:ext cx="3035451" cy="2230463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buSzPct val="100000"/>
            </a:pPr>
            <a:endParaRPr lang="en-US" sz="1800" dirty="0"/>
          </a:p>
        </p:txBody>
      </p:sp>
      <p:sp>
        <p:nvSpPr>
          <p:cNvPr id="11" name="Shape 1">
            <a:extLst>
              <a:ext uri="{FF2B5EF4-FFF2-40B4-BE49-F238E27FC236}">
                <a16:creationId xmlns:a16="http://schemas.microsoft.com/office/drawing/2014/main" id="{71611D43-E5CA-B8D5-57E4-0195A25E4D42}"/>
              </a:ext>
            </a:extLst>
          </p:cNvPr>
          <p:cNvSpPr/>
          <p:nvPr/>
        </p:nvSpPr>
        <p:spPr>
          <a:xfrm>
            <a:off x="574638" y="1413107"/>
            <a:ext cx="1005840" cy="64008"/>
          </a:xfrm>
          <a:prstGeom prst="rect">
            <a:avLst/>
          </a:prstGeom>
          <a:solidFill>
            <a:srgbClr val="1CADE4"/>
          </a:solidFill>
          <a:ln w="12700">
            <a:solidFill>
              <a:srgbClr val="1CAD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5D08BF5-1C5E-913D-56DF-91247D0692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0494" y="2145493"/>
            <a:ext cx="9200000" cy="3838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63224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4AF27C-F08C-77B2-FBBD-5C26A4CB0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BE2538B-EA4F-DF80-97B5-C59C2EB91400}"/>
              </a:ext>
            </a:extLst>
          </p:cNvPr>
          <p:cNvSpPr/>
          <p:nvPr/>
        </p:nvSpPr>
        <p:spPr>
          <a:xfrm>
            <a:off x="518159" y="666057"/>
            <a:ext cx="5577841" cy="46062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500" b="1" dirty="0">
                <a:solidFill>
                  <a:srgbClr val="335B74"/>
                </a:solidFill>
                <a:latin typeface="Aptos" pitchFamily="34" charset="0"/>
              </a:rPr>
              <a:t>Architectural Design Principles</a:t>
            </a:r>
          </a:p>
        </p:txBody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DA7EEF03-5CBE-2E1F-658C-C076CD9A902E}"/>
              </a:ext>
            </a:extLst>
          </p:cNvPr>
          <p:cNvSpPr/>
          <p:nvPr/>
        </p:nvSpPr>
        <p:spPr>
          <a:xfrm>
            <a:off x="1610505" y="1294694"/>
            <a:ext cx="5157847" cy="290299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>
                <a:solidFill>
                  <a:srgbClr val="66737A"/>
                </a:solidFill>
                <a:latin typeface="Aptos" pitchFamily="34" charset="0"/>
              </a:rPr>
              <a:t>Governance: Building maintainable, scalable, and deterministic test automation frameworks.</a:t>
            </a:r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E31898A9-5279-2512-8043-6973DDB43FC0}"/>
              </a:ext>
            </a:extLst>
          </p:cNvPr>
          <p:cNvSpPr/>
          <p:nvPr/>
        </p:nvSpPr>
        <p:spPr>
          <a:xfrm>
            <a:off x="1823419" y="1564386"/>
            <a:ext cx="3035451" cy="2230463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buSzPct val="100000"/>
            </a:pPr>
            <a:endParaRPr lang="en-US" sz="1800" dirty="0"/>
          </a:p>
        </p:txBody>
      </p:sp>
      <p:sp>
        <p:nvSpPr>
          <p:cNvPr id="11" name="Shape 1">
            <a:extLst>
              <a:ext uri="{FF2B5EF4-FFF2-40B4-BE49-F238E27FC236}">
                <a16:creationId xmlns:a16="http://schemas.microsoft.com/office/drawing/2014/main" id="{5278790D-61BA-371D-1401-2793F5138F42}"/>
              </a:ext>
            </a:extLst>
          </p:cNvPr>
          <p:cNvSpPr/>
          <p:nvPr/>
        </p:nvSpPr>
        <p:spPr>
          <a:xfrm>
            <a:off x="574638" y="1413107"/>
            <a:ext cx="1005840" cy="64008"/>
          </a:xfrm>
          <a:prstGeom prst="rect">
            <a:avLst/>
          </a:prstGeom>
          <a:solidFill>
            <a:srgbClr val="1CADE4"/>
          </a:solidFill>
          <a:ln w="12700">
            <a:solidFill>
              <a:srgbClr val="1CAD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45F3D60-4C99-BC4E-386B-4560BA771E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6024" y="2145493"/>
            <a:ext cx="9200000" cy="3838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83806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49CECE-673F-121C-267E-51CBE22BC1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CFE7043-7CE3-6BE4-C3ED-D719B50E8CCA}"/>
              </a:ext>
            </a:extLst>
          </p:cNvPr>
          <p:cNvSpPr/>
          <p:nvPr/>
        </p:nvSpPr>
        <p:spPr>
          <a:xfrm>
            <a:off x="518159" y="666057"/>
            <a:ext cx="5577841" cy="46062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500" b="1" dirty="0">
                <a:solidFill>
                  <a:srgbClr val="335B74"/>
                </a:solidFill>
                <a:latin typeface="Aptos" pitchFamily="34" charset="0"/>
              </a:rPr>
              <a:t>Architectural Design Principles</a:t>
            </a:r>
          </a:p>
        </p:txBody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ADED1191-51ED-70B5-2290-85C67EFC014A}"/>
              </a:ext>
            </a:extLst>
          </p:cNvPr>
          <p:cNvSpPr/>
          <p:nvPr/>
        </p:nvSpPr>
        <p:spPr>
          <a:xfrm>
            <a:off x="1610505" y="1294694"/>
            <a:ext cx="5157847" cy="290299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>
                <a:solidFill>
                  <a:srgbClr val="66737A"/>
                </a:solidFill>
                <a:latin typeface="Aptos" pitchFamily="34" charset="0"/>
              </a:rPr>
              <a:t>Governance: Building maintainable, scalable, and deterministic test automation frameworks.</a:t>
            </a:r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5881C032-E0A5-B31D-9A0F-4D15E892B700}"/>
              </a:ext>
            </a:extLst>
          </p:cNvPr>
          <p:cNvSpPr/>
          <p:nvPr/>
        </p:nvSpPr>
        <p:spPr>
          <a:xfrm>
            <a:off x="1823419" y="1564386"/>
            <a:ext cx="3035451" cy="2230463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buSzPct val="100000"/>
            </a:pPr>
            <a:endParaRPr lang="en-US" sz="1800" dirty="0"/>
          </a:p>
        </p:txBody>
      </p:sp>
      <p:sp>
        <p:nvSpPr>
          <p:cNvPr id="11" name="Shape 1">
            <a:extLst>
              <a:ext uri="{FF2B5EF4-FFF2-40B4-BE49-F238E27FC236}">
                <a16:creationId xmlns:a16="http://schemas.microsoft.com/office/drawing/2014/main" id="{C5D187FD-C000-A675-1D00-707B5C36405C}"/>
              </a:ext>
            </a:extLst>
          </p:cNvPr>
          <p:cNvSpPr/>
          <p:nvPr/>
        </p:nvSpPr>
        <p:spPr>
          <a:xfrm>
            <a:off x="574638" y="1413107"/>
            <a:ext cx="1005840" cy="64008"/>
          </a:xfrm>
          <a:prstGeom prst="rect">
            <a:avLst/>
          </a:prstGeom>
          <a:solidFill>
            <a:srgbClr val="1CADE4"/>
          </a:solidFill>
          <a:ln w="12700">
            <a:solidFill>
              <a:srgbClr val="1CAD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A991C9B-E280-10FD-CF27-E005DCEE3E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6024" y="2145493"/>
            <a:ext cx="9200000" cy="3838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7468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68A5E-4CA4-FD41-FF9D-C71513956A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6">
            <a:extLst>
              <a:ext uri="{FF2B5EF4-FFF2-40B4-BE49-F238E27FC236}">
                <a16:creationId xmlns:a16="http://schemas.microsoft.com/office/drawing/2014/main" id="{BD09BC76-D1BE-DFBA-315D-146D6D22A76F}"/>
              </a:ext>
            </a:extLst>
          </p:cNvPr>
          <p:cNvSpPr/>
          <p:nvPr/>
        </p:nvSpPr>
        <p:spPr>
          <a:xfrm>
            <a:off x="5934634" y="1934314"/>
            <a:ext cx="4114800" cy="3232045"/>
          </a:xfrm>
          <a:prstGeom prst="roundRect">
            <a:avLst>
              <a:gd name="adj" fmla="val 1020"/>
            </a:avLst>
          </a:prstGeom>
          <a:solidFill>
            <a:srgbClr val="E8F7FA"/>
          </a:solidFill>
          <a:ln w="12700">
            <a:solidFill>
              <a:srgbClr val="D5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4">
            <a:extLst>
              <a:ext uri="{FF2B5EF4-FFF2-40B4-BE49-F238E27FC236}">
                <a16:creationId xmlns:a16="http://schemas.microsoft.com/office/drawing/2014/main" id="{B2B044A4-B804-161C-264C-80B636C48612}"/>
              </a:ext>
            </a:extLst>
          </p:cNvPr>
          <p:cNvSpPr/>
          <p:nvPr/>
        </p:nvSpPr>
        <p:spPr>
          <a:xfrm>
            <a:off x="655320" y="1934315"/>
            <a:ext cx="4114800" cy="3200400"/>
          </a:xfrm>
          <a:prstGeom prst="roundRect">
            <a:avLst>
              <a:gd name="adj" fmla="val 1010"/>
            </a:avLst>
          </a:prstGeom>
          <a:solidFill>
            <a:srgbClr val="EFF4F6"/>
          </a:solidFill>
          <a:ln w="12700">
            <a:solidFill>
              <a:srgbClr val="D5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136466AA-085D-EF51-5568-4FF016140127}"/>
              </a:ext>
            </a:extLst>
          </p:cNvPr>
          <p:cNvSpPr/>
          <p:nvPr/>
        </p:nvSpPr>
        <p:spPr>
          <a:xfrm>
            <a:off x="518160" y="841607"/>
            <a:ext cx="7777428" cy="3657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500" b="1" dirty="0">
                <a:solidFill>
                  <a:srgbClr val="335B74"/>
                </a:solidFill>
                <a:latin typeface="Aptos" pitchFamily="34" charset="0"/>
              </a:rPr>
              <a:t>Foundations of a Scalable Automation Framework</a:t>
            </a:r>
          </a:p>
        </p:txBody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6F899D62-030B-3962-A2D6-7C949DB78B8B}"/>
              </a:ext>
            </a:extLst>
          </p:cNvPr>
          <p:cNvSpPr/>
          <p:nvPr/>
        </p:nvSpPr>
        <p:spPr>
          <a:xfrm>
            <a:off x="1661160" y="1389888"/>
            <a:ext cx="3212498" cy="132947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>
                <a:solidFill>
                  <a:srgbClr val="66737A"/>
                </a:solidFill>
                <a:latin typeface="Aptos" pitchFamily="34" charset="0"/>
              </a:rPr>
              <a:t>Framework Layers - Scalable Framework Foundations</a:t>
            </a:r>
            <a:r>
              <a:rPr lang="en-US" sz="900" dirty="0">
                <a:solidFill>
                  <a:srgbClr val="000000"/>
                </a:solidFill>
              </a:rPr>
              <a:t>​</a:t>
            </a:r>
            <a:endParaRPr lang="en-US" sz="900" dirty="0"/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24FB996F-E247-8AD2-DD0C-290A821D4F3F}"/>
              </a:ext>
            </a:extLst>
          </p:cNvPr>
          <p:cNvSpPr/>
          <p:nvPr/>
        </p:nvSpPr>
        <p:spPr>
          <a:xfrm>
            <a:off x="1191857" y="201168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buSzPct val="100000"/>
            </a:pPr>
            <a:r>
              <a:rPr lang="en-US" sz="1900" b="1" dirty="0">
                <a:solidFill>
                  <a:srgbClr val="335B74"/>
                </a:solidFill>
                <a:latin typeface="Aptos" pitchFamily="34" charset="0"/>
              </a:rPr>
              <a:t>Framework Layers​</a:t>
            </a:r>
          </a:p>
          <a:p>
            <a:pPr>
              <a:buSzPct val="100000"/>
            </a:pP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2F3E4A"/>
                </a:solidFill>
              </a:rPr>
              <a:t>Test Layer​</a:t>
            </a:r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2F3E4A"/>
                </a:solidFill>
              </a:rPr>
              <a:t>Business Layer​</a:t>
            </a:r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2F3E4A"/>
                </a:solidFill>
              </a:rPr>
              <a:t>Page Layer​</a:t>
            </a:r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2F3E4A"/>
                </a:solidFill>
              </a:rPr>
              <a:t>Infrastructure Layer​</a:t>
            </a:r>
          </a:p>
        </p:txBody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C82C2432-15E9-48C1-DE74-6C90013FDB91}"/>
              </a:ext>
            </a:extLst>
          </p:cNvPr>
          <p:cNvSpPr/>
          <p:nvPr/>
        </p:nvSpPr>
        <p:spPr>
          <a:xfrm>
            <a:off x="6184748" y="2171699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buSzPct val="100000"/>
            </a:pPr>
            <a:r>
              <a:rPr lang="en-US" dirty="0">
                <a:solidFill>
                  <a:srgbClr val="2F3E4A"/>
                </a:solidFill>
              </a:rPr>
              <a:t>    </a:t>
            </a:r>
            <a:r>
              <a:rPr lang="en-US" sz="1900" b="1" dirty="0">
                <a:solidFill>
                  <a:srgbClr val="2683C6"/>
                </a:solidFill>
                <a:latin typeface="Aptos" pitchFamily="34" charset="0"/>
              </a:rPr>
              <a:t>Framework Goals​</a:t>
            </a:r>
          </a:p>
          <a:p>
            <a:pPr>
              <a:lnSpc>
                <a:spcPct val="90000"/>
              </a:lnSpc>
              <a:buSzPct val="100000"/>
            </a:pPr>
            <a:endParaRPr lang="en-US" sz="1900" b="1" dirty="0">
              <a:solidFill>
                <a:srgbClr val="2683C6"/>
              </a:solidFill>
              <a:latin typeface="Aptos" pitchFamily="34" charset="0"/>
            </a:endParaRPr>
          </a:p>
          <a:p>
            <a:pPr>
              <a:lnSpc>
                <a:spcPct val="150000"/>
              </a:lnSpc>
              <a:buSzPct val="100000"/>
            </a:pPr>
            <a:r>
              <a:rPr lang="en-US" sz="1800" dirty="0">
                <a:solidFill>
                  <a:srgbClr val="2F3E4A"/>
                </a:solidFill>
              </a:rPr>
              <a:t>• Scalability​</a:t>
            </a:r>
          </a:p>
          <a:p>
            <a:pPr>
              <a:lnSpc>
                <a:spcPct val="150000"/>
              </a:lnSpc>
              <a:buSzPct val="100000"/>
            </a:pPr>
            <a:r>
              <a:rPr lang="en-US" sz="1800" dirty="0">
                <a:solidFill>
                  <a:srgbClr val="2F3E4A"/>
                </a:solidFill>
              </a:rPr>
              <a:t>• Reusability​</a:t>
            </a:r>
          </a:p>
          <a:p>
            <a:pPr>
              <a:lnSpc>
                <a:spcPct val="150000"/>
              </a:lnSpc>
              <a:buSzPct val="100000"/>
            </a:pPr>
            <a:r>
              <a:rPr lang="en-US" sz="1800" dirty="0">
                <a:solidFill>
                  <a:srgbClr val="2F3E4A"/>
                </a:solidFill>
              </a:rPr>
              <a:t>• Maintainability​</a:t>
            </a:r>
          </a:p>
          <a:p>
            <a:pPr>
              <a:lnSpc>
                <a:spcPct val="150000"/>
              </a:lnSpc>
              <a:buSzPct val="100000"/>
            </a:pPr>
            <a:r>
              <a:rPr lang="en-US" sz="1800" dirty="0">
                <a:solidFill>
                  <a:srgbClr val="2F3E4A"/>
                </a:solidFill>
              </a:rPr>
              <a:t>• Readability​</a:t>
            </a:r>
          </a:p>
          <a:p>
            <a:pPr>
              <a:lnSpc>
                <a:spcPct val="150000"/>
              </a:lnSpc>
              <a:buSzPct val="100000"/>
            </a:pPr>
            <a:r>
              <a:rPr lang="en-US" sz="1800" dirty="0">
                <a:solidFill>
                  <a:srgbClr val="2F3E4A"/>
                </a:solidFill>
              </a:rPr>
              <a:t>• Collaboration​</a:t>
            </a:r>
          </a:p>
        </p:txBody>
      </p:sp>
      <p:sp>
        <p:nvSpPr>
          <p:cNvPr id="6" name="Text 7">
            <a:extLst>
              <a:ext uri="{FF2B5EF4-FFF2-40B4-BE49-F238E27FC236}">
                <a16:creationId xmlns:a16="http://schemas.microsoft.com/office/drawing/2014/main" id="{1C151F81-DC5C-AAFB-A74F-7B7B012A03AC}"/>
              </a:ext>
            </a:extLst>
          </p:cNvPr>
          <p:cNvSpPr/>
          <p:nvPr/>
        </p:nvSpPr>
        <p:spPr>
          <a:xfrm>
            <a:off x="746760" y="56235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>
                <a:solidFill>
                  <a:srgbClr val="2F5573"/>
                </a:solidFill>
              </a:rPr>
              <a:t>Key Takeaway</a:t>
            </a:r>
            <a:endParaRPr lang="en-US" sz="1400" dirty="0"/>
          </a:p>
        </p:txBody>
      </p:sp>
      <p:sp>
        <p:nvSpPr>
          <p:cNvPr id="7" name="Text 8">
            <a:extLst>
              <a:ext uri="{FF2B5EF4-FFF2-40B4-BE49-F238E27FC236}">
                <a16:creationId xmlns:a16="http://schemas.microsoft.com/office/drawing/2014/main" id="{1CD845FE-5CE6-AF0D-2148-31D7C2615D4A}"/>
              </a:ext>
            </a:extLst>
          </p:cNvPr>
          <p:cNvSpPr/>
          <p:nvPr/>
        </p:nvSpPr>
        <p:spPr>
          <a:xfrm>
            <a:off x="2118360" y="55778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i="1" dirty="0">
                <a:solidFill>
                  <a:srgbClr val="000000"/>
                </a:solidFill>
              </a:rPr>
              <a:t>A framework should reduce complexity and accelerate development.</a:t>
            </a:r>
            <a:endParaRPr lang="en-US" sz="1400" dirty="0"/>
          </a:p>
        </p:txBody>
      </p:sp>
      <p:sp>
        <p:nvSpPr>
          <p:cNvPr id="11" name="Shape 1">
            <a:extLst>
              <a:ext uri="{FF2B5EF4-FFF2-40B4-BE49-F238E27FC236}">
                <a16:creationId xmlns:a16="http://schemas.microsoft.com/office/drawing/2014/main" id="{3CCB73DE-4B54-BF5C-E9E3-D5F3A6007BAB}"/>
              </a:ext>
            </a:extLst>
          </p:cNvPr>
          <p:cNvSpPr/>
          <p:nvPr/>
        </p:nvSpPr>
        <p:spPr>
          <a:xfrm>
            <a:off x="574638" y="1413107"/>
            <a:ext cx="1005840" cy="64008"/>
          </a:xfrm>
          <a:prstGeom prst="rect">
            <a:avLst/>
          </a:prstGeom>
          <a:solidFill>
            <a:srgbClr val="1CADE4"/>
          </a:solidFill>
          <a:ln w="12700">
            <a:solidFill>
              <a:srgbClr val="1CAD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3968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335B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Selenium vs. Playwright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749808"/>
            <a:ext cx="1005840" cy="64008"/>
          </a:xfrm>
          <a:prstGeom prst="rect">
            <a:avLst/>
          </a:prstGeom>
          <a:solidFill>
            <a:srgbClr val="1CADE4"/>
          </a:solidFill>
          <a:ln w="12700">
            <a:solidFill>
              <a:srgbClr val="1CAD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645920" y="667512"/>
            <a:ext cx="987552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673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based on context, not popularity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2148840" cy="475488"/>
          </a:xfrm>
          <a:prstGeom prst="roundRect">
            <a:avLst>
              <a:gd name="adj" fmla="val 9615"/>
            </a:avLst>
          </a:prstGeom>
          <a:solidFill>
            <a:srgbClr val="335B74"/>
          </a:solidFill>
          <a:ln w="12700">
            <a:solidFill>
              <a:srgbClr val="335B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66928" y="1106424"/>
            <a:ext cx="2020824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Criterion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834640" y="1024128"/>
            <a:ext cx="3657600" cy="475488"/>
          </a:xfrm>
          <a:prstGeom prst="roundRect">
            <a:avLst>
              <a:gd name="adj" fmla="val 9615"/>
            </a:avLst>
          </a:prstGeom>
          <a:solidFill>
            <a:srgbClr val="335B74"/>
          </a:solidFill>
          <a:ln w="12700">
            <a:solidFill>
              <a:srgbClr val="335B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898648" y="1106424"/>
            <a:ext cx="3529584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Selenium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675120" y="1024128"/>
            <a:ext cx="4983480" cy="475488"/>
          </a:xfrm>
          <a:prstGeom prst="roundRect">
            <a:avLst>
              <a:gd name="adj" fmla="val 9615"/>
            </a:avLst>
          </a:prstGeom>
          <a:solidFill>
            <a:srgbClr val="335B74"/>
          </a:solidFill>
          <a:ln w="12700">
            <a:solidFill>
              <a:srgbClr val="335B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739128" y="1106424"/>
            <a:ext cx="4855464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Playwright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1600200"/>
            <a:ext cx="2148840" cy="475488"/>
          </a:xfrm>
          <a:prstGeom prst="roundRect">
            <a:avLst>
              <a:gd name="adj" fmla="val 9615"/>
            </a:avLst>
          </a:prstGeom>
          <a:solidFill>
            <a:srgbClr val="EFF4F6"/>
          </a:solidFill>
          <a:ln w="12700">
            <a:solidFill>
              <a:srgbClr val="D5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66928" y="1682496"/>
            <a:ext cx="2020824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35B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Browser control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834640" y="1600200"/>
            <a:ext cx="365760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D5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898648" y="1682496"/>
            <a:ext cx="3529584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63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WebDriver ecosystem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675120" y="1600200"/>
            <a:ext cx="4983480" cy="475488"/>
          </a:xfrm>
          <a:prstGeom prst="roundRect">
            <a:avLst>
              <a:gd name="adj" fmla="val 9615"/>
            </a:avLst>
          </a:prstGeom>
          <a:solidFill>
            <a:srgbClr val="EFF4F6"/>
          </a:solidFill>
          <a:ln w="12700">
            <a:solidFill>
              <a:srgbClr val="D5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739128" y="1682496"/>
            <a:ext cx="4855464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63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Integrated browser automation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2176272"/>
            <a:ext cx="2148840" cy="475488"/>
          </a:xfrm>
          <a:prstGeom prst="roundRect">
            <a:avLst>
              <a:gd name="adj" fmla="val 9615"/>
            </a:avLst>
          </a:prstGeom>
          <a:solidFill>
            <a:srgbClr val="EFF4F6"/>
          </a:solidFill>
          <a:ln w="12700">
            <a:solidFill>
              <a:srgbClr val="D5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66928" y="2258568"/>
            <a:ext cx="2020824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35B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Waiting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834640" y="2176272"/>
            <a:ext cx="365760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D5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898648" y="2258568"/>
            <a:ext cx="3529584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63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Synchronization is often designed by the team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675120" y="2176272"/>
            <a:ext cx="4983480" cy="475488"/>
          </a:xfrm>
          <a:prstGeom prst="roundRect">
            <a:avLst>
              <a:gd name="adj" fmla="val 9615"/>
            </a:avLst>
          </a:prstGeom>
          <a:solidFill>
            <a:srgbClr val="EFF4F6"/>
          </a:solidFill>
          <a:ln w="12700">
            <a:solidFill>
              <a:srgbClr val="D5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739128" y="2258568"/>
            <a:ext cx="4855464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63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Auto-waiting for many actions and assertions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02920" y="2752344"/>
            <a:ext cx="2148840" cy="475488"/>
          </a:xfrm>
          <a:prstGeom prst="roundRect">
            <a:avLst>
              <a:gd name="adj" fmla="val 9615"/>
            </a:avLst>
          </a:prstGeom>
          <a:solidFill>
            <a:srgbClr val="EFF4F6"/>
          </a:solidFill>
          <a:ln w="12700">
            <a:solidFill>
              <a:srgbClr val="D5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66928" y="2834640"/>
            <a:ext cx="2020824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35B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Isolation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834640" y="2752344"/>
            <a:ext cx="365760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D5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898648" y="2834640"/>
            <a:ext cx="3529584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63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Runner, Grid, or framework dependent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675120" y="2752344"/>
            <a:ext cx="4983480" cy="475488"/>
          </a:xfrm>
          <a:prstGeom prst="roundRect">
            <a:avLst>
              <a:gd name="adj" fmla="val 9615"/>
            </a:avLst>
          </a:prstGeom>
          <a:solidFill>
            <a:srgbClr val="EFF4F6"/>
          </a:solidFill>
          <a:ln w="12700">
            <a:solidFill>
              <a:srgbClr val="D5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739128" y="2834640"/>
            <a:ext cx="4855464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63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Browser contexts built in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02920" y="3328416"/>
            <a:ext cx="2148840" cy="475488"/>
          </a:xfrm>
          <a:prstGeom prst="roundRect">
            <a:avLst>
              <a:gd name="adj" fmla="val 9615"/>
            </a:avLst>
          </a:prstGeom>
          <a:solidFill>
            <a:srgbClr val="EFF4F6"/>
          </a:solidFill>
          <a:ln w="12700">
            <a:solidFill>
              <a:srgbClr val="D5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66928" y="3410712"/>
            <a:ext cx="2020824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35B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Execution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834640" y="3328416"/>
            <a:ext cx="365760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D5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2898648" y="3410712"/>
            <a:ext cx="3529584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63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Usually combined with an external runner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675120" y="3328416"/>
            <a:ext cx="4983480" cy="475488"/>
          </a:xfrm>
          <a:prstGeom prst="roundRect">
            <a:avLst>
              <a:gd name="adj" fmla="val 9615"/>
            </a:avLst>
          </a:prstGeom>
          <a:solidFill>
            <a:srgbClr val="EFF4F6"/>
          </a:solidFill>
          <a:ln w="12700">
            <a:solidFill>
              <a:srgbClr val="D5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739128" y="3410712"/>
            <a:ext cx="4855464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63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Integrated runner, projects, workers, and retries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02920" y="3904488"/>
            <a:ext cx="2148840" cy="475488"/>
          </a:xfrm>
          <a:prstGeom prst="roundRect">
            <a:avLst>
              <a:gd name="adj" fmla="val 9615"/>
            </a:avLst>
          </a:prstGeom>
          <a:solidFill>
            <a:srgbClr val="EFF4F6"/>
          </a:solidFill>
          <a:ln w="12700">
            <a:solidFill>
              <a:srgbClr val="D5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66928" y="3986784"/>
            <a:ext cx="2020824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35B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834640" y="3904488"/>
            <a:ext cx="365760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D5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2898648" y="3986784"/>
            <a:ext cx="3529584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63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Reporting and artifacts commonly assembled from tools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675120" y="3904488"/>
            <a:ext cx="4983480" cy="475488"/>
          </a:xfrm>
          <a:prstGeom prst="roundRect">
            <a:avLst>
              <a:gd name="adj" fmla="val 9615"/>
            </a:avLst>
          </a:prstGeom>
          <a:solidFill>
            <a:srgbClr val="EFF4F6"/>
          </a:solidFill>
          <a:ln w="12700">
            <a:solidFill>
              <a:srgbClr val="D5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739128" y="3986784"/>
            <a:ext cx="4855464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63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Readable assertions, HTML reports, traces, screenshots, and videos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02920" y="4480560"/>
            <a:ext cx="2148840" cy="475488"/>
          </a:xfrm>
          <a:prstGeom prst="roundRect">
            <a:avLst>
              <a:gd name="adj" fmla="val 9615"/>
            </a:avLst>
          </a:prstGeom>
          <a:solidFill>
            <a:srgbClr val="EFF4F6"/>
          </a:solidFill>
          <a:ln w="12700">
            <a:solidFill>
              <a:srgbClr val="D5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566928" y="4562856"/>
            <a:ext cx="2020824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35B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fit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834640" y="4480560"/>
            <a:ext cx="365760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D5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2898648" y="4562856"/>
            <a:ext cx="3529584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63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Existing enterprise investment and infrastructure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675120" y="4480560"/>
            <a:ext cx="4983480" cy="475488"/>
          </a:xfrm>
          <a:prstGeom prst="roundRect">
            <a:avLst>
              <a:gd name="adj" fmla="val 9615"/>
            </a:avLst>
          </a:prstGeom>
          <a:solidFill>
            <a:srgbClr val="EFF4F6"/>
          </a:solidFill>
          <a:ln w="12700">
            <a:solidFill>
              <a:srgbClr val="D5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6739128" y="4562856"/>
            <a:ext cx="4855464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63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Modern web projects seeking an integrated TypeScript workflow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85800" y="5212080"/>
            <a:ext cx="10561320" cy="786384"/>
          </a:xfrm>
          <a:prstGeom prst="roundRect">
            <a:avLst>
              <a:gd name="adj" fmla="val 5814"/>
            </a:avLst>
          </a:prstGeom>
          <a:solidFill>
            <a:srgbClr val="E8F7FA"/>
          </a:solidFill>
          <a:ln w="12700">
            <a:solidFill>
              <a:srgbClr val="D5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914400" y="5367528"/>
            <a:ext cx="1010412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35B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decision: Playwright is selected for its integrated runner, assertions, auto-waiting, browser contexts, reports, traces, and TypeScript workflow.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914400" y="5632704"/>
            <a:ext cx="1010412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26B0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Important limit: Playwright reduces common synchronization and isolation work, but test design, data control, environment stability, and locator quality remain engineering responsibilities.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35C55B-4435-CB60-D53D-79DF6FBFF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B4DD3538-D837-F9C2-9F8B-9BDFB963E726}"/>
              </a:ext>
            </a:extLst>
          </p:cNvPr>
          <p:cNvSpPr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2500" b="1" dirty="0">
                <a:solidFill>
                  <a:srgbClr val="335B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 2 | Activities – Part 1</a:t>
            </a:r>
            <a:endParaRPr lang="en-US" sz="2500" dirty="0"/>
          </a:p>
        </p:txBody>
      </p:sp>
      <p:sp>
        <p:nvSpPr>
          <p:cNvPr id="5" name="Shape 1">
            <a:extLst>
              <a:ext uri="{FF2B5EF4-FFF2-40B4-BE49-F238E27FC236}">
                <a16:creationId xmlns:a16="http://schemas.microsoft.com/office/drawing/2014/main" id="{F14B0BFF-F9A5-3237-8937-91A3EDBF6BAF}"/>
              </a:ext>
            </a:extLst>
          </p:cNvPr>
          <p:cNvSpPr/>
          <p:nvPr/>
        </p:nvSpPr>
        <p:spPr>
          <a:xfrm>
            <a:off x="502920" y="749808"/>
            <a:ext cx="1005840" cy="64008"/>
          </a:xfrm>
          <a:prstGeom prst="rect">
            <a:avLst/>
          </a:prstGeom>
          <a:solidFill>
            <a:srgbClr val="1CADE4"/>
          </a:solidFill>
          <a:ln w="12700">
            <a:solidFill>
              <a:srgbClr val="1CAD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B8AE26B9-ED63-4A9C-7B75-73B955F4C419}"/>
              </a:ext>
            </a:extLst>
          </p:cNvPr>
          <p:cNvSpPr/>
          <p:nvPr/>
        </p:nvSpPr>
        <p:spPr>
          <a:xfrm>
            <a:off x="1645920" y="667512"/>
            <a:ext cx="987552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673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Activities</a:t>
            </a:r>
            <a:endParaRPr lang="en-US" sz="10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9A15A3DF-D5D6-05E9-2AD4-3ABFAA23AD90}"/>
              </a:ext>
            </a:extLst>
          </p:cNvPr>
          <p:cNvSpPr/>
          <p:nvPr/>
        </p:nvSpPr>
        <p:spPr>
          <a:xfrm>
            <a:off x="777240" y="1609344"/>
            <a:ext cx="384048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52DBC93B-3B64-AAD9-6C15-363C55B488AD}"/>
              </a:ext>
            </a:extLst>
          </p:cNvPr>
          <p:cNvSpPr/>
          <p:nvPr/>
        </p:nvSpPr>
        <p:spPr>
          <a:xfrm>
            <a:off x="1325880" y="1588982"/>
            <a:ext cx="978408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endParaRPr lang="en-US" sz="1600" dirty="0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CC81EBA9-491E-BDCD-9E23-514272997A01}"/>
              </a:ext>
            </a:extLst>
          </p:cNvPr>
          <p:cNvSpPr/>
          <p:nvPr/>
        </p:nvSpPr>
        <p:spPr>
          <a:xfrm>
            <a:off x="777240" y="2249424"/>
            <a:ext cx="384048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DDBD9DC6-C797-1A8A-8F6B-C8BF1BF28FEE}"/>
              </a:ext>
            </a:extLst>
          </p:cNvPr>
          <p:cNvSpPr/>
          <p:nvPr/>
        </p:nvSpPr>
        <p:spPr>
          <a:xfrm>
            <a:off x="777240" y="2889504"/>
            <a:ext cx="384048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05596097-F391-3366-E9D8-C3BB50950CB9}"/>
              </a:ext>
            </a:extLst>
          </p:cNvPr>
          <p:cNvSpPr/>
          <p:nvPr/>
        </p:nvSpPr>
        <p:spPr>
          <a:xfrm>
            <a:off x="777240" y="3529584"/>
            <a:ext cx="384048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8">
            <a:extLst>
              <a:ext uri="{FF2B5EF4-FFF2-40B4-BE49-F238E27FC236}">
                <a16:creationId xmlns:a16="http://schemas.microsoft.com/office/drawing/2014/main" id="{F502A307-EEFA-FAAC-A77E-B28A8F6099DF}"/>
              </a:ext>
            </a:extLst>
          </p:cNvPr>
          <p:cNvSpPr/>
          <p:nvPr/>
        </p:nvSpPr>
        <p:spPr>
          <a:xfrm>
            <a:off x="777240" y="4169664"/>
            <a:ext cx="384048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300" dirty="0"/>
          </a:p>
        </p:txBody>
      </p:sp>
      <p:sp>
        <p:nvSpPr>
          <p:cNvPr id="21" name="Text 21">
            <a:extLst>
              <a:ext uri="{FF2B5EF4-FFF2-40B4-BE49-F238E27FC236}">
                <a16:creationId xmlns:a16="http://schemas.microsoft.com/office/drawing/2014/main" id="{07A1CC29-4B67-6AE9-CE22-F46C0E770426}"/>
              </a:ext>
            </a:extLst>
          </p:cNvPr>
          <p:cNvSpPr/>
          <p:nvPr/>
        </p:nvSpPr>
        <p:spPr>
          <a:xfrm>
            <a:off x="777240" y="4809744"/>
            <a:ext cx="384048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lnSpcReduction="10000"/>
          </a:bodyPr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0CA64BA-BBA5-00D7-53A1-E2609AEA9842}"/>
              </a:ext>
            </a:extLst>
          </p:cNvPr>
          <p:cNvSpPr txBox="1"/>
          <p:nvPr/>
        </p:nvSpPr>
        <p:spPr>
          <a:xfrm>
            <a:off x="777240" y="1005840"/>
            <a:ext cx="60944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>
              <a:lnSpc>
                <a:spcPct val="100000"/>
              </a:lnSpc>
              <a:buNone/>
            </a:pPr>
            <a:endParaRPr lang="en-US" dirty="0"/>
          </a:p>
          <a:p>
            <a:pPr fontAlgn="t">
              <a:lnSpc>
                <a:spcPct val="100000"/>
              </a:lnSpc>
              <a:buNone/>
            </a:pPr>
            <a:endParaRPr lang="en-US" dirty="0"/>
          </a:p>
        </p:txBody>
      </p:sp>
      <p:sp>
        <p:nvSpPr>
          <p:cNvPr id="63" name="Shape 4">
            <a:extLst>
              <a:ext uri="{FF2B5EF4-FFF2-40B4-BE49-F238E27FC236}">
                <a16:creationId xmlns:a16="http://schemas.microsoft.com/office/drawing/2014/main" id="{1CC5AF13-09FE-2FEA-DEB3-12B2481CFFF7}"/>
              </a:ext>
            </a:extLst>
          </p:cNvPr>
          <p:cNvSpPr/>
          <p:nvPr/>
        </p:nvSpPr>
        <p:spPr>
          <a:xfrm>
            <a:off x="502920" y="1373707"/>
            <a:ext cx="10218868" cy="4991234"/>
          </a:xfrm>
          <a:prstGeom prst="roundRect">
            <a:avLst>
              <a:gd name="adj" fmla="val 990"/>
            </a:avLst>
          </a:prstGeom>
          <a:solidFill>
            <a:srgbClr val="EFF4F6"/>
          </a:solidFill>
          <a:ln w="12700">
            <a:solidFill>
              <a:srgbClr val="D5DEE2"/>
            </a:solidFill>
            <a:prstDash val="solid"/>
          </a:ln>
        </p:spPr>
        <p:txBody>
          <a:bodyPr/>
          <a:lstStyle/>
          <a:p>
            <a:pPr fontAlgn="t">
              <a:lnSpc>
                <a:spcPct val="150000"/>
              </a:lnSpc>
              <a:buNone/>
            </a:pPr>
            <a:r>
              <a:rPr lang="en-US" sz="2000" b="1" dirty="0">
                <a:solidFill>
                  <a:srgbClr val="335B74"/>
                </a:solidFill>
                <a:latin typeface="Aptos" pitchFamily="34" charset="0"/>
              </a:rPr>
              <a:t>Activity 1 – AI Course Exploration</a:t>
            </a:r>
          </a:p>
          <a:p>
            <a:pPr fontAlgn="t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26343B"/>
                </a:solidFill>
                <a:latin typeface="Aptos" pitchFamily="34" charset="0"/>
              </a:rPr>
              <a:t>Goal: </a:t>
            </a:r>
            <a:r>
              <a:rPr lang="en-US" sz="1400" dirty="0">
                <a:solidFill>
                  <a:srgbClr val="26343B"/>
                </a:solidFill>
                <a:latin typeface="Aptos" pitchFamily="34" charset="0"/>
              </a:rPr>
              <a:t>Connect AI concepts with our automation course.</a:t>
            </a:r>
          </a:p>
          <a:p>
            <a:pPr fontAlgn="t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26343B"/>
                </a:solidFill>
                <a:latin typeface="Aptos" pitchFamily="34" charset="0"/>
              </a:rPr>
              <a:t>Task: </a:t>
            </a:r>
            <a:r>
              <a:rPr lang="en-US" sz="1400" dirty="0">
                <a:solidFill>
                  <a:srgbClr val="26343B"/>
                </a:solidFill>
                <a:latin typeface="Aptos" pitchFamily="34" charset="0"/>
              </a:rPr>
              <a:t>Review recommended AI courses [</a:t>
            </a:r>
            <a:r>
              <a:rPr lang="en-US" sz="1400" dirty="0">
                <a:hlinkClick r:id="rId2"/>
              </a:rPr>
              <a:t>JCE - </a:t>
            </a:r>
            <a:r>
              <a:rPr lang="en-US" sz="1400" dirty="0" err="1">
                <a:hlinkClick r:id="rId2"/>
              </a:rPr>
              <a:t>Jalasoft</a:t>
            </a:r>
            <a:r>
              <a:rPr lang="en-US" sz="1400" dirty="0">
                <a:hlinkClick r:id="rId2"/>
              </a:rPr>
              <a:t> Core Engineer V2.1.pdf</a:t>
            </a:r>
            <a:r>
              <a:rPr lang="en-US" sz="1400" dirty="0">
                <a:solidFill>
                  <a:srgbClr val="26343B"/>
                </a:solidFill>
                <a:latin typeface="Aptos" pitchFamily="34" charset="0"/>
              </a:rPr>
              <a:t>] at your own pace.</a:t>
            </a:r>
          </a:p>
          <a:p>
            <a:pPr fontAlgn="t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26343B"/>
                </a:solidFill>
                <a:latin typeface="Aptos" pitchFamily="34" charset="0"/>
              </a:rPr>
              <a:t>Focus: </a:t>
            </a:r>
            <a:r>
              <a:rPr lang="en-US" sz="1400" dirty="0">
                <a:solidFill>
                  <a:srgbClr val="26343B"/>
                </a:solidFill>
                <a:latin typeface="Aptos" pitchFamily="34" charset="0"/>
              </a:rPr>
              <a:t>Identify tools and concepts relevant to software testing.</a:t>
            </a:r>
          </a:p>
          <a:p>
            <a:pPr fontAlgn="t">
              <a:lnSpc>
                <a:spcPct val="150000"/>
              </a:lnSpc>
              <a:buNone/>
            </a:pPr>
            <a:endParaRPr lang="en-US" sz="1400" dirty="0">
              <a:solidFill>
                <a:srgbClr val="26343B"/>
              </a:solidFill>
              <a:latin typeface="Aptos" pitchFamily="34" charset="0"/>
            </a:endParaRPr>
          </a:p>
          <a:p>
            <a:pPr fontAlgn="t">
              <a:lnSpc>
                <a:spcPct val="150000"/>
              </a:lnSpc>
            </a:pPr>
            <a:r>
              <a:rPr lang="en-US" sz="2000" b="1" dirty="0">
                <a:solidFill>
                  <a:srgbClr val="335B74"/>
                </a:solidFill>
                <a:latin typeface="Aptos" pitchFamily="34" charset="0"/>
              </a:rPr>
              <a:t>Activity 2 – AI Agent Skills Comparison</a:t>
            </a:r>
          </a:p>
          <a:p>
            <a:pPr fontAlgn="t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26343B"/>
                </a:solidFill>
                <a:latin typeface="Aptos" pitchFamily="34" charset="0"/>
              </a:rPr>
              <a:t>Goal: </a:t>
            </a:r>
            <a:r>
              <a:rPr lang="en-US" sz="1400" dirty="0">
                <a:solidFill>
                  <a:srgbClr val="26343B"/>
                </a:solidFill>
                <a:latin typeface="Aptos" pitchFamily="34" charset="0"/>
              </a:rPr>
              <a:t>Compare Kiro's Skill architecture with other AI agents.</a:t>
            </a:r>
          </a:p>
          <a:p>
            <a:pPr fontAlgn="t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26343B"/>
                </a:solidFill>
                <a:latin typeface="Aptos" pitchFamily="34" charset="0"/>
              </a:rPr>
              <a:t>Task</a:t>
            </a:r>
            <a:r>
              <a:rPr lang="en-US" sz="1400" dirty="0">
                <a:solidFill>
                  <a:srgbClr val="26343B"/>
                </a:solidFill>
                <a:latin typeface="Aptos" pitchFamily="34" charset="0"/>
              </a:rPr>
              <a:t>: Check tools you use (Claude, ChatGPT, Copilot, Cursor, etc.).</a:t>
            </a:r>
          </a:p>
          <a:p>
            <a:pPr fontAlgn="t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26343B"/>
                </a:solidFill>
                <a:latin typeface="Aptos" pitchFamily="34" charset="0"/>
              </a:rPr>
              <a:t>Analyze:</a:t>
            </a:r>
          </a:p>
          <a:p>
            <a:pPr marL="285750" indent="-285750" fontAlgn="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26343B"/>
                </a:solidFill>
                <a:latin typeface="Aptos" pitchFamily="34" charset="0"/>
              </a:rPr>
              <a:t>Feature name (Custom Instructions, Rules, Prompts, MCP/Tools).</a:t>
            </a:r>
          </a:p>
          <a:p>
            <a:pPr marL="285750" indent="-285750" fontAlgn="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26343B"/>
                </a:solidFill>
                <a:latin typeface="Aptos" pitchFamily="34" charset="0"/>
              </a:rPr>
              <a:t>Structure of instructions and context files.</a:t>
            </a:r>
          </a:p>
          <a:p>
            <a:pPr fontAlgn="t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26343B"/>
                </a:solidFill>
                <a:latin typeface="Aptos" pitchFamily="34" charset="0"/>
              </a:rPr>
              <a:t> Note</a:t>
            </a:r>
            <a:r>
              <a:rPr lang="en-US" sz="1400" dirty="0">
                <a:solidFill>
                  <a:srgbClr val="26343B"/>
                </a:solidFill>
                <a:latin typeface="Aptos" pitchFamily="34" charset="0"/>
              </a:rPr>
              <a:t>: Self-study, Self-directed research • No submission required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FC2C82-E178-88BA-16F3-208835F1DB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0535" y="3072384"/>
            <a:ext cx="4253348" cy="2411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686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335B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capabilities and limitations in testing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749808"/>
            <a:ext cx="1005840" cy="64008"/>
          </a:xfrm>
          <a:prstGeom prst="rect">
            <a:avLst/>
          </a:prstGeom>
          <a:solidFill>
            <a:srgbClr val="1CADE4"/>
          </a:solidFill>
          <a:ln w="12700">
            <a:solidFill>
              <a:srgbClr val="1CAD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645920" y="667512"/>
            <a:ext cx="987552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673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AI as an accelerator—not as the authority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85800" y="1234440"/>
            <a:ext cx="5120640" cy="4526280"/>
          </a:xfrm>
          <a:prstGeom prst="roundRect">
            <a:avLst>
              <a:gd name="adj" fmla="val 1010"/>
            </a:avLst>
          </a:prstGeom>
          <a:solidFill>
            <a:srgbClr val="E8F7FA"/>
          </a:solidFill>
          <a:ln w="12700">
            <a:solidFill>
              <a:srgbClr val="D5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080760" y="1234440"/>
            <a:ext cx="5120640" cy="4526280"/>
          </a:xfrm>
          <a:prstGeom prst="roundRect">
            <a:avLst>
              <a:gd name="adj" fmla="val 1010"/>
            </a:avLst>
          </a:prstGeom>
          <a:solidFill>
            <a:srgbClr val="FFF4E8"/>
          </a:solidFill>
          <a:ln w="12700">
            <a:solidFill>
              <a:srgbClr val="D5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60120" y="1600200"/>
            <a:ext cx="438912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683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CAN HELP WITH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60120" y="2148840"/>
            <a:ext cx="4297680" cy="2240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263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Drafting scenarios and test code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263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Suggesting boundary and negative cases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263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Explaining errors and summarizing reports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263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Generating safe synthetic data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263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Reviewing naming, assertions, and duplication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355080" y="1600200"/>
            <a:ext cx="438912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B26B0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HUMANS MUST VERIFY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355080" y="2148840"/>
            <a:ext cx="4297680" cy="2240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263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rules and expected behavior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263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Selectors, waits, and test data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263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Security, privacy, accessibility, usability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263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Whether a failure is real or a test defect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263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Maintainability and team standards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62000" y="6079326"/>
            <a:ext cx="1024128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35B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 intent → Provide context → Generate → Inspect → Run → Review → Refine</a:t>
            </a:r>
            <a:endParaRPr lang="en-US" sz="1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335B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SDET role in an AI-enabled SDLC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749808"/>
            <a:ext cx="1005840" cy="64008"/>
          </a:xfrm>
          <a:prstGeom prst="rect">
            <a:avLst/>
          </a:prstGeom>
          <a:solidFill>
            <a:srgbClr val="1CADE4"/>
          </a:solidFill>
          <a:ln w="12700">
            <a:solidFill>
              <a:srgbClr val="1CAD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645920" y="667512"/>
            <a:ext cx="987552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673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Software quality engineering is expanding across the full development lifecycle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85800" y="1188720"/>
            <a:ext cx="5120640" cy="4526280"/>
          </a:xfrm>
          <a:prstGeom prst="roundRect">
            <a:avLst>
              <a:gd name="adj" fmla="val 1010"/>
            </a:avLst>
          </a:prstGeom>
          <a:solidFill>
            <a:srgbClr val="EFF4F6"/>
          </a:solidFill>
          <a:ln w="12700">
            <a:solidFill>
              <a:srgbClr val="D5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60120" y="1508760"/>
            <a:ext cx="4526280" cy="3840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35B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TEST EXECUTION TO QUALITY ENGINEERING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60120" y="2148840"/>
            <a:ext cx="4389120" cy="2057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263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Designs testable systems and acceptance criteria.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263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Builds automation, tooling, data, and quality gates.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263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Partners with developers, product, security, and operations.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263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Uses evidence to improve risk decisions and delivery feedback.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60120" y="4983480"/>
            <a:ext cx="452628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683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SDET: Software Development Engineer in Test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080760" y="1188720"/>
            <a:ext cx="5120640" cy="4526280"/>
          </a:xfrm>
          <a:prstGeom prst="roundRect">
            <a:avLst>
              <a:gd name="adj" fmla="val 1010"/>
            </a:avLst>
          </a:prstGeom>
          <a:solidFill>
            <a:srgbClr val="E8F7FA"/>
          </a:solidFill>
          <a:ln w="12700">
            <a:solidFill>
              <a:srgbClr val="D5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355080" y="1508760"/>
            <a:ext cx="452628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683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THROUGH THE SDLC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400800" y="2011680"/>
            <a:ext cx="448056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35B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 → Design → Build → Test → Release → Operate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0" y="2560320"/>
            <a:ext cx="4251960" cy="1965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263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Summarize context and identify risks.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263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Draft code, tests, data, and documentation.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263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changes, failures, security, and maintainability.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263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 from production feedback and guide the next change.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0" y="4983480"/>
            <a:ext cx="4251960" cy="3840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E88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changes how work is performed; humans remain accountable for decisions and outcomes.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335B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an AI agent works: structure and tools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749808"/>
            <a:ext cx="1005840" cy="64008"/>
          </a:xfrm>
          <a:prstGeom prst="rect">
            <a:avLst/>
          </a:prstGeom>
          <a:solidFill>
            <a:srgbClr val="1CADE4"/>
          </a:solidFill>
          <a:ln w="12700">
            <a:solidFill>
              <a:srgbClr val="1CAD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645920" y="667512"/>
            <a:ext cx="987552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673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agent combines a model, context, instructions, skills, and tool access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6537960"/>
            <a:ext cx="11155680" cy="14630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6673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 AUTOMATION FUNDAMENTALS  |  MODULE 2  |  14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640080" y="1143000"/>
            <a:ext cx="3063240" cy="4526280"/>
          </a:xfrm>
          <a:prstGeom prst="roundRect">
            <a:avLst>
              <a:gd name="adj" fmla="val 1493"/>
            </a:avLst>
          </a:prstGeom>
          <a:solidFill>
            <a:srgbClr val="EFF4F6"/>
          </a:solidFill>
          <a:ln w="12700">
            <a:solidFill>
              <a:srgbClr val="D5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1508760"/>
            <a:ext cx="251460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335B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CORE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14400" y="2057400"/>
            <a:ext cx="2514600" cy="17373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263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Model: reasons over the request.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263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Context: files, rules, state, and evidence.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263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Instructions: define goals, constraints, and quality.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4572000"/>
            <a:ext cx="2514600" cy="5029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683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Observe → Plan → Act → Inspect → Refine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886200" y="1143000"/>
            <a:ext cx="3063240" cy="4526280"/>
          </a:xfrm>
          <a:prstGeom prst="roundRect">
            <a:avLst>
              <a:gd name="adj" fmla="val 1493"/>
            </a:avLst>
          </a:prstGeom>
          <a:solidFill>
            <a:srgbClr val="E8F7FA"/>
          </a:solidFill>
          <a:ln w="12700">
            <a:solidFill>
              <a:srgbClr val="D5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160520" y="1508760"/>
            <a:ext cx="251460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683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SKILLS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160520" y="2057400"/>
            <a:ext cx="2514600" cy="17373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263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Reusable instructions for a repeatable task.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263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Encode workflow, standards, inputs, and evidence.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263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Examples: test-case-design and code review.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160520" y="4572000"/>
            <a:ext cx="2514600" cy="5943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E88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Skill guides behavior; it is not a replacement for judgment.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132320" y="1143000"/>
            <a:ext cx="4343400" cy="4526280"/>
          </a:xfrm>
          <a:prstGeom prst="roundRect">
            <a:avLst>
              <a:gd name="adj" fmla="val 1053"/>
            </a:avLst>
          </a:prstGeom>
          <a:solidFill>
            <a:srgbClr val="FFF4E8"/>
          </a:solidFill>
          <a:ln w="12700">
            <a:solidFill>
              <a:srgbClr val="D5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406640" y="1508760"/>
            <a:ext cx="379476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B26B0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MCP TOOL ACCESS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7406640" y="2057400"/>
            <a:ext cx="3703320" cy="1783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263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MCP connects an agent to external tools and data.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263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Configure a server with a command, arguments, and environment.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263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agent discovers available tools and calls them with permission.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406640" y="4434840"/>
            <a:ext cx="3703320" cy="5669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63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"mcpServers": { "name": { "command": "...", "args": [] } } }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406640" y="5074920"/>
            <a:ext cx="370332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26B0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Only expose approved, necessary, and non-sensitive capabilities.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02920" y="749808"/>
            <a:ext cx="1005840" cy="64008"/>
          </a:xfrm>
          <a:prstGeom prst="rect">
            <a:avLst/>
          </a:prstGeom>
          <a:solidFill>
            <a:srgbClr val="1CADE4"/>
          </a:solidFill>
          <a:ln w="12700">
            <a:solidFill>
              <a:srgbClr val="1CAD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645920" y="667512"/>
            <a:ext cx="987552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1000" dirty="0">
                <a:solidFill>
                  <a:srgbClr val="6673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 objectives, Wrap-Up, Key Takeaways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77240" y="1417320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1CADE4"/>
          </a:solidFill>
          <a:ln w="12700">
            <a:solidFill>
              <a:srgbClr val="1CAD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1463040"/>
            <a:ext cx="347472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80160" y="1417320"/>
            <a:ext cx="987552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263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the purpose, scope, and limitations of test automation.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77240" y="1920240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1CADE4"/>
          </a:solidFill>
          <a:ln w="12700">
            <a:solidFill>
              <a:srgbClr val="1CAD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77240" y="1965960"/>
            <a:ext cx="347472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80160" y="1920240"/>
            <a:ext cx="987552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263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manual or automated testing based on the scenario.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77240" y="2423160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1CADE4"/>
          </a:solidFill>
          <a:ln w="12700">
            <a:solidFill>
              <a:srgbClr val="1CAD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77240" y="2468880"/>
            <a:ext cx="347472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80160" y="2423160"/>
            <a:ext cx="987552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400">
                <a:solidFill>
                  <a:srgbClr val="263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Automate valuable, repeatable checks—not every possible action.</a:t>
            </a:r>
          </a:p>
        </p:txBody>
      </p:sp>
      <p:sp>
        <p:nvSpPr>
          <p:cNvPr id="16" name="Shape 14"/>
          <p:cNvSpPr/>
          <p:nvPr/>
        </p:nvSpPr>
        <p:spPr>
          <a:xfrm>
            <a:off x="777240" y="2926080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1CADE4"/>
          </a:solidFill>
          <a:ln w="12700">
            <a:solidFill>
              <a:srgbClr val="1CAD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77240" y="2971800"/>
            <a:ext cx="347472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280160" y="2926080"/>
            <a:ext cx="987552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263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Classify tests as unit, integration/API, or end-to-end.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77240" y="3429000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1CADE4"/>
          </a:solidFill>
          <a:ln w="12700">
            <a:solidFill>
              <a:srgbClr val="1CAD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77240" y="3474720"/>
            <a:ext cx="347472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280160" y="3429000"/>
            <a:ext cx="987552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263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the components of a maintainable automation framework.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77240" y="3931920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1CADE4"/>
          </a:solidFill>
          <a:ln w="12700">
            <a:solidFill>
              <a:srgbClr val="1CAD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77240" y="3977640"/>
            <a:ext cx="347472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280160" y="3931920"/>
            <a:ext cx="987552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263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Selenium and Playwright using project criteria.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77240" y="4434840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1CADE4"/>
          </a:solidFill>
          <a:ln w="12700">
            <a:solidFill>
              <a:srgbClr val="1CAD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77240" y="4480560"/>
            <a:ext cx="347472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280160" y="4434840"/>
            <a:ext cx="987552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263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AI responsibly while verifying generated suggestions.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77240" y="4937760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1CADE4"/>
          </a:solidFill>
          <a:ln w="12700">
            <a:solidFill>
              <a:srgbClr val="1CAD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77240" y="4983480"/>
            <a:ext cx="347472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280160" y="4937760"/>
            <a:ext cx="987552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263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Skills will support the lifecycle progressively, not only prompting.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777240" y="5532120"/>
            <a:ext cx="10469880" cy="502920"/>
          </a:xfrm>
          <a:prstGeom prst="roundRect">
            <a:avLst>
              <a:gd name="adj" fmla="val 9091"/>
            </a:avLst>
          </a:prstGeom>
          <a:solidFill>
            <a:srgbClr val="EFF4F6"/>
          </a:solidFill>
          <a:ln w="12700">
            <a:solidFill>
              <a:srgbClr val="D5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960120" y="5687568"/>
            <a:ext cx="1014984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5B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Guiding question: What should we automate, at which level, and what evidence will prove its value?</a:t>
            </a:r>
            <a:endParaRPr lang="en-US" sz="1300" dirty="0"/>
          </a:p>
        </p:txBody>
      </p:sp>
      <p:sp>
        <p:nvSpPr>
          <p:cNvPr id="33" name="Text 0">
            <a:extLst>
              <a:ext uri="{FF2B5EF4-FFF2-40B4-BE49-F238E27FC236}">
                <a16:creationId xmlns:a16="http://schemas.microsoft.com/office/drawing/2014/main" id="{224F2D39-8721-D05F-74D1-9AB310D5662F}"/>
              </a:ext>
            </a:extLst>
          </p:cNvPr>
          <p:cNvSpPr/>
          <p:nvPr/>
        </p:nvSpPr>
        <p:spPr>
          <a:xfrm>
            <a:off x="502920" y="169164"/>
            <a:ext cx="10533888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2500" b="1" dirty="0">
                <a:solidFill>
                  <a:srgbClr val="335B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 2 | Session Summary</a:t>
            </a:r>
            <a:endParaRPr lang="en-US" sz="2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20BC2C29-5C6A-A8A2-45DC-E20F3F6E3632}"/>
              </a:ext>
            </a:extLst>
          </p:cNvPr>
          <p:cNvSpPr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2500" b="1" dirty="0">
                <a:solidFill>
                  <a:srgbClr val="335B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 2 | Activities – Part 2</a:t>
            </a:r>
            <a:endParaRPr lang="en-US" sz="2500" dirty="0"/>
          </a:p>
        </p:txBody>
      </p:sp>
      <p:sp>
        <p:nvSpPr>
          <p:cNvPr id="5" name="Shape 1">
            <a:extLst>
              <a:ext uri="{FF2B5EF4-FFF2-40B4-BE49-F238E27FC236}">
                <a16:creationId xmlns:a16="http://schemas.microsoft.com/office/drawing/2014/main" id="{588E12F5-70DC-1B67-F190-705EA41A3D70}"/>
              </a:ext>
            </a:extLst>
          </p:cNvPr>
          <p:cNvSpPr/>
          <p:nvPr/>
        </p:nvSpPr>
        <p:spPr>
          <a:xfrm>
            <a:off x="502920" y="749808"/>
            <a:ext cx="1005840" cy="64008"/>
          </a:xfrm>
          <a:prstGeom prst="rect">
            <a:avLst/>
          </a:prstGeom>
          <a:solidFill>
            <a:srgbClr val="1CADE4"/>
          </a:solidFill>
          <a:ln w="12700">
            <a:solidFill>
              <a:srgbClr val="1CAD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93FE9545-F88F-E072-3232-A539F5E3D294}"/>
              </a:ext>
            </a:extLst>
          </p:cNvPr>
          <p:cNvSpPr/>
          <p:nvPr/>
        </p:nvSpPr>
        <p:spPr>
          <a:xfrm>
            <a:off x="1645920" y="667512"/>
            <a:ext cx="987552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673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Assignments &amp; Next Steps</a:t>
            </a:r>
            <a:endParaRPr lang="en-US" sz="10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A5F30849-F1D9-18EB-B5C8-42EAE47CDF78}"/>
              </a:ext>
            </a:extLst>
          </p:cNvPr>
          <p:cNvSpPr/>
          <p:nvPr/>
        </p:nvSpPr>
        <p:spPr>
          <a:xfrm>
            <a:off x="777240" y="1609344"/>
            <a:ext cx="384048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FE0253E6-5A65-E0B9-0BB3-40A67DC75121}"/>
              </a:ext>
            </a:extLst>
          </p:cNvPr>
          <p:cNvSpPr/>
          <p:nvPr/>
        </p:nvSpPr>
        <p:spPr>
          <a:xfrm>
            <a:off x="1325880" y="1588982"/>
            <a:ext cx="978408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endParaRPr lang="en-US" sz="1600" dirty="0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E1952508-09CE-46AE-AFDB-69C4D0EC9CC5}"/>
              </a:ext>
            </a:extLst>
          </p:cNvPr>
          <p:cNvSpPr/>
          <p:nvPr/>
        </p:nvSpPr>
        <p:spPr>
          <a:xfrm>
            <a:off x="777240" y="2249424"/>
            <a:ext cx="384048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4BC208E3-1278-67EF-8791-C89F0C896FF0}"/>
              </a:ext>
            </a:extLst>
          </p:cNvPr>
          <p:cNvSpPr/>
          <p:nvPr/>
        </p:nvSpPr>
        <p:spPr>
          <a:xfrm>
            <a:off x="777240" y="2889504"/>
            <a:ext cx="384048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C09BDCDF-C30E-EFB9-8E9A-81962E5B15BB}"/>
              </a:ext>
            </a:extLst>
          </p:cNvPr>
          <p:cNvSpPr/>
          <p:nvPr/>
        </p:nvSpPr>
        <p:spPr>
          <a:xfrm>
            <a:off x="777240" y="3529584"/>
            <a:ext cx="384048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8">
            <a:extLst>
              <a:ext uri="{FF2B5EF4-FFF2-40B4-BE49-F238E27FC236}">
                <a16:creationId xmlns:a16="http://schemas.microsoft.com/office/drawing/2014/main" id="{8A8B7A70-2B03-1392-B076-0C8F1A088DB1}"/>
              </a:ext>
            </a:extLst>
          </p:cNvPr>
          <p:cNvSpPr/>
          <p:nvPr/>
        </p:nvSpPr>
        <p:spPr>
          <a:xfrm>
            <a:off x="777240" y="4169664"/>
            <a:ext cx="384048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300" dirty="0"/>
          </a:p>
        </p:txBody>
      </p:sp>
      <p:sp>
        <p:nvSpPr>
          <p:cNvPr id="21" name="Text 21">
            <a:extLst>
              <a:ext uri="{FF2B5EF4-FFF2-40B4-BE49-F238E27FC236}">
                <a16:creationId xmlns:a16="http://schemas.microsoft.com/office/drawing/2014/main" id="{C012EE64-6854-DB5A-E196-A180E9C872B8}"/>
              </a:ext>
            </a:extLst>
          </p:cNvPr>
          <p:cNvSpPr/>
          <p:nvPr/>
        </p:nvSpPr>
        <p:spPr>
          <a:xfrm>
            <a:off x="777240" y="4809744"/>
            <a:ext cx="384048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lnSpcReduction="10000"/>
          </a:bodyPr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1595F7F-58D7-6AB7-007B-D40046893F6C}"/>
              </a:ext>
            </a:extLst>
          </p:cNvPr>
          <p:cNvSpPr txBox="1"/>
          <p:nvPr/>
        </p:nvSpPr>
        <p:spPr>
          <a:xfrm>
            <a:off x="304138" y="5692693"/>
            <a:ext cx="1095253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600" i="1" dirty="0">
                <a:solidFill>
                  <a:srgbClr val="666666"/>
                </a:solidFill>
                <a:latin typeface="Aptos" panose="020B0004020202020204" pitchFamily="34" charset="0"/>
              </a:rPr>
              <a:t>Next Module: </a:t>
            </a:r>
          </a:p>
          <a:p>
            <a:pPr marL="0" indent="0">
              <a:buNone/>
            </a:pPr>
            <a:r>
              <a:rPr lang="en-US" sz="1600" i="1" dirty="0">
                <a:solidFill>
                  <a:srgbClr val="666666"/>
                </a:solidFill>
                <a:latin typeface="Aptos" panose="020B0004020202020204" pitchFamily="34" charset="0"/>
              </a:rPr>
              <a:t>Framework Setup &amp; First Test </a:t>
            </a:r>
          </a:p>
          <a:p>
            <a:pPr marL="0" indent="0">
              <a:buNone/>
            </a:pPr>
            <a:r>
              <a:rPr lang="en-US" sz="1600" i="1" dirty="0">
                <a:solidFill>
                  <a:srgbClr val="666666"/>
                </a:solidFill>
                <a:latin typeface="Aptos" panose="020B0004020202020204" pitchFamily="34" charset="0"/>
              </a:rPr>
              <a:t>Initialize framework and build first working test.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63" name="Shape 4">
            <a:extLst>
              <a:ext uri="{FF2B5EF4-FFF2-40B4-BE49-F238E27FC236}">
                <a16:creationId xmlns:a16="http://schemas.microsoft.com/office/drawing/2014/main" id="{83C67DB1-59A7-652D-AE2C-661D48A69D27}"/>
              </a:ext>
            </a:extLst>
          </p:cNvPr>
          <p:cNvSpPr/>
          <p:nvPr/>
        </p:nvSpPr>
        <p:spPr>
          <a:xfrm>
            <a:off x="3006405" y="1228809"/>
            <a:ext cx="4308796" cy="3580936"/>
          </a:xfrm>
          <a:prstGeom prst="roundRect">
            <a:avLst>
              <a:gd name="adj" fmla="val 990"/>
            </a:avLst>
          </a:prstGeom>
          <a:solidFill>
            <a:srgbClr val="EFF4F6"/>
          </a:solidFill>
          <a:ln w="12700">
            <a:solidFill>
              <a:srgbClr val="D5DEE2"/>
            </a:solidFill>
            <a:prstDash val="solid"/>
          </a:ln>
        </p:spPr>
        <p:txBody>
          <a:bodyPr/>
          <a:lstStyle/>
          <a:p>
            <a:pPr fontAlgn="t">
              <a:lnSpc>
                <a:spcPct val="90000"/>
              </a:lnSpc>
              <a:buNone/>
            </a:pPr>
            <a:r>
              <a:rPr lang="en-US" b="1" dirty="0">
                <a:solidFill>
                  <a:srgbClr val="335B74"/>
                </a:solidFill>
                <a:latin typeface="Aptos" pitchFamily="34" charset="0"/>
              </a:rPr>
              <a:t> </a:t>
            </a:r>
          </a:p>
          <a:p>
            <a:pPr fontAlgn="t">
              <a:lnSpc>
                <a:spcPct val="90000"/>
              </a:lnSpc>
              <a:buNone/>
            </a:pPr>
            <a:r>
              <a:rPr lang="en-US" b="1" dirty="0">
                <a:solidFill>
                  <a:srgbClr val="335B74"/>
                </a:solidFill>
                <a:latin typeface="Aptos" pitchFamily="34" charset="0"/>
              </a:rPr>
              <a:t>Required Actions</a:t>
            </a:r>
          </a:p>
          <a:p>
            <a:pPr fontAlgn="t">
              <a:lnSpc>
                <a:spcPct val="90000"/>
              </a:lnSpc>
              <a:buNone/>
            </a:pPr>
            <a:endParaRPr lang="en-US" b="1" dirty="0">
              <a:solidFill>
                <a:srgbClr val="335B74"/>
              </a:solidFill>
              <a:latin typeface="Aptos" pitchFamily="34" charset="0"/>
            </a:endParaRPr>
          </a:p>
          <a:p>
            <a:pPr fontAlgn="t">
              <a:lnSpc>
                <a:spcPct val="90000"/>
              </a:lnSpc>
              <a:buNone/>
            </a:pPr>
            <a:endParaRPr lang="en-US" b="1" dirty="0">
              <a:solidFill>
                <a:srgbClr val="335B74"/>
              </a:solidFill>
              <a:latin typeface="Aptos" pitchFamily="34" charset="0"/>
            </a:endParaRPr>
          </a:p>
          <a:p>
            <a:pPr fontAlgn="t">
              <a:lnSpc>
                <a:spcPct val="150000"/>
              </a:lnSpc>
              <a:buSzPct val="100000"/>
              <a:buNone/>
            </a:pPr>
            <a:r>
              <a:rPr lang="en-US" dirty="0">
                <a:solidFill>
                  <a:srgbClr val="26343B"/>
                </a:solidFill>
                <a:latin typeface="Aptos" pitchFamily="34" charset="0"/>
              </a:rPr>
              <a:t>📋 Install </a:t>
            </a:r>
            <a:r>
              <a:rPr lang="en-US" dirty="0" err="1">
                <a:solidFill>
                  <a:srgbClr val="26343B"/>
                </a:solidFill>
                <a:latin typeface="Aptos" pitchFamily="34" charset="0"/>
              </a:rPr>
              <a:t>VSCode</a:t>
            </a:r>
            <a:br>
              <a:rPr lang="en-US" dirty="0">
                <a:solidFill>
                  <a:srgbClr val="26343B"/>
                </a:solidFill>
                <a:latin typeface="Aptos" pitchFamily="34" charset="0"/>
              </a:rPr>
            </a:br>
            <a:r>
              <a:rPr lang="en-US" dirty="0">
                <a:solidFill>
                  <a:srgbClr val="26343B"/>
                </a:solidFill>
                <a:latin typeface="Aptos" pitchFamily="34" charset="0"/>
              </a:rPr>
              <a:t>📋 Install Git</a:t>
            </a:r>
            <a:br>
              <a:rPr lang="en-US" dirty="0">
                <a:solidFill>
                  <a:srgbClr val="26343B"/>
                </a:solidFill>
                <a:latin typeface="Aptos" pitchFamily="34" charset="0"/>
              </a:rPr>
            </a:br>
            <a:r>
              <a:rPr lang="en-US" dirty="0">
                <a:solidFill>
                  <a:srgbClr val="26343B"/>
                </a:solidFill>
                <a:latin typeface="Aptos" pitchFamily="34" charset="0"/>
              </a:rPr>
              <a:t>📋 Install Node.js (includes </a:t>
            </a:r>
            <a:r>
              <a:rPr lang="en-US" dirty="0" err="1">
                <a:solidFill>
                  <a:srgbClr val="26343B"/>
                </a:solidFill>
                <a:latin typeface="Aptos" pitchFamily="34" charset="0"/>
              </a:rPr>
              <a:t>npm</a:t>
            </a:r>
            <a:r>
              <a:rPr lang="en-US" dirty="0">
                <a:solidFill>
                  <a:srgbClr val="26343B"/>
                </a:solidFill>
                <a:latin typeface="Aptos" pitchFamily="34" charset="0"/>
              </a:rPr>
              <a:t>)</a:t>
            </a:r>
            <a:br>
              <a:rPr lang="en-US" dirty="0">
                <a:solidFill>
                  <a:srgbClr val="26343B"/>
                </a:solidFill>
                <a:latin typeface="Aptos" pitchFamily="34" charset="0"/>
              </a:rPr>
            </a:br>
            <a:r>
              <a:rPr lang="en-US" dirty="0">
                <a:solidFill>
                  <a:srgbClr val="26343B"/>
                </a:solidFill>
                <a:latin typeface="Aptos" pitchFamily="34" charset="0"/>
              </a:rPr>
              <a:t>📋 Install Typescript(latest)</a:t>
            </a:r>
          </a:p>
        </p:txBody>
      </p:sp>
    </p:spTree>
    <p:extLst>
      <p:ext uri="{BB962C8B-B14F-4D97-AF65-F5344CB8AC3E}">
        <p14:creationId xmlns:p14="http://schemas.microsoft.com/office/powerpoint/2010/main" val="19754668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23A62EC-BBA4-5E34-F0E9-725A9CA906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526" y="643466"/>
            <a:ext cx="9992948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86265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5817</TotalTime>
  <Words>1665</Words>
  <Application>Microsoft Office PowerPoint</Application>
  <PresentationFormat>Widescreen</PresentationFormat>
  <Paragraphs>325</Paragraphs>
  <Slides>24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Aptos</vt:lpstr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Web Automation Fundamentals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2 - Introduction to Web Automation</dc:title>
  <dc:subject>Automation strategy, measurable benefits, framework components, tool selection, and responsible AI</dc:subject>
  <dc:creator>Eliana Navia</dc:creator>
  <cp:lastModifiedBy>Eliana Navia</cp:lastModifiedBy>
  <cp:revision>50</cp:revision>
  <dcterms:created xsi:type="dcterms:W3CDTF">2026-10-02T19:08:55Z</dcterms:created>
  <dcterms:modified xsi:type="dcterms:W3CDTF">2026-10-13T13:59:15Z</dcterms:modified>
</cp:coreProperties>
</file>